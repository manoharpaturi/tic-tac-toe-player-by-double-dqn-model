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336" r:id="rId5"/>
    <p:sldId id="342" r:id="rId6"/>
    <p:sldId id="274" r:id="rId7"/>
    <p:sldId id="275" r:id="rId8"/>
    <p:sldId id="260" r:id="rId9"/>
    <p:sldId id="339" r:id="rId10"/>
    <p:sldId id="340" r:id="rId11"/>
    <p:sldId id="341" r:id="rId12"/>
    <p:sldId id="33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100" d="100"/>
          <a:sy n="100" d="100"/>
        </p:scale>
        <p:origin x="990" y="4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75689B-1C88-4450-9DCB-120CB7831EE2}" type="datetimeFigureOut">
              <a:rPr lang="en-IN" smtClean="0"/>
              <a:t>21-08-2025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CAEF7B7-A056-400F-8664-5A6FF9AC640F}" type="slidenum">
              <a:rPr lang="en-IN" smtClean="0"/>
              <a:t>‹#›</a:t>
            </a:fld>
            <a:endParaRPr lang="en-IN"/>
          </a:p>
        </p:txBody>
      </p:sp>
    </p:spTree>
    <p:extLst>
      <p:ext uri="{BB962C8B-B14F-4D97-AF65-F5344CB8AC3E}">
        <p14:creationId xmlns:p14="http://schemas.microsoft.com/office/powerpoint/2010/main" val="2615140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E25FD06C-F3D1-4777-9CE2-EFB2C2920F86}" type="slidenum">
              <a:rPr lang="en-US" smtClean="0"/>
              <a:pPr>
                <a:defRPr/>
              </a:pPr>
              <a:t>1</a:t>
            </a:fld>
            <a:endParaRPr lang="en-US" dirty="0"/>
          </a:p>
        </p:txBody>
      </p:sp>
      <p:sp>
        <p:nvSpPr>
          <p:cNvPr id="5" name="Footer Placeholder 4"/>
          <p:cNvSpPr>
            <a:spLocks noGrp="1"/>
          </p:cNvSpPr>
          <p:nvPr>
            <p:ph type="ftr" sz="quarter" idx="11"/>
          </p:nvPr>
        </p:nvSpPr>
        <p:spPr/>
        <p:txBody>
          <a:bodyPr/>
          <a:lstStyle/>
          <a:p>
            <a:endParaRPr lang="en-US" dirty="0"/>
          </a:p>
        </p:txBody>
      </p:sp>
    </p:spTree>
    <p:extLst>
      <p:ext uri="{BB962C8B-B14F-4D97-AF65-F5344CB8AC3E}">
        <p14:creationId xmlns:p14="http://schemas.microsoft.com/office/powerpoint/2010/main" val="1043485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2A35BE8E-FB98-43C1-BB2F-2F7ECA586F6C}" type="datetimeFigureOut">
              <a:rPr lang="en-IN" smtClean="0"/>
              <a:t>21-08-2025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656E0A-0341-46E0-96CF-199AB0635D1B}" type="slidenum">
              <a:rPr lang="en-IN" smtClean="0"/>
              <a:t>‹#›</a:t>
            </a:fld>
            <a:endParaRPr lang="en-IN"/>
          </a:p>
        </p:txBody>
      </p:sp>
    </p:spTree>
    <p:extLst>
      <p:ext uri="{BB962C8B-B14F-4D97-AF65-F5344CB8AC3E}">
        <p14:creationId xmlns:p14="http://schemas.microsoft.com/office/powerpoint/2010/main" val="3314782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A35BE8E-FB98-43C1-BB2F-2F7ECA586F6C}" type="datetimeFigureOut">
              <a:rPr lang="en-IN" smtClean="0"/>
              <a:t>21-08-2025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656E0A-0341-46E0-96CF-199AB0635D1B}" type="slidenum">
              <a:rPr lang="en-IN" smtClean="0"/>
              <a:t>‹#›</a:t>
            </a:fld>
            <a:endParaRPr lang="en-IN"/>
          </a:p>
        </p:txBody>
      </p:sp>
    </p:spTree>
    <p:extLst>
      <p:ext uri="{BB962C8B-B14F-4D97-AF65-F5344CB8AC3E}">
        <p14:creationId xmlns:p14="http://schemas.microsoft.com/office/powerpoint/2010/main" val="39522101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A35BE8E-FB98-43C1-BB2F-2F7ECA586F6C}" type="datetimeFigureOut">
              <a:rPr lang="en-IN" smtClean="0"/>
              <a:t>21-08-2025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656E0A-0341-46E0-96CF-199AB0635D1B}" type="slidenum">
              <a:rPr lang="en-IN" smtClean="0"/>
              <a:t>‹#›</a:t>
            </a:fld>
            <a:endParaRPr lang="en-IN"/>
          </a:p>
        </p:txBody>
      </p:sp>
    </p:spTree>
    <p:extLst>
      <p:ext uri="{BB962C8B-B14F-4D97-AF65-F5344CB8AC3E}">
        <p14:creationId xmlns:p14="http://schemas.microsoft.com/office/powerpoint/2010/main" val="338141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2A35BE8E-FB98-43C1-BB2F-2F7ECA586F6C}" type="datetimeFigureOut">
              <a:rPr lang="en-IN" smtClean="0"/>
              <a:t>21-08-2025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656E0A-0341-46E0-96CF-199AB0635D1B}" type="slidenum">
              <a:rPr lang="en-IN" smtClean="0"/>
              <a:t>‹#›</a:t>
            </a:fld>
            <a:endParaRPr lang="en-IN"/>
          </a:p>
        </p:txBody>
      </p:sp>
    </p:spTree>
    <p:extLst>
      <p:ext uri="{BB962C8B-B14F-4D97-AF65-F5344CB8AC3E}">
        <p14:creationId xmlns:p14="http://schemas.microsoft.com/office/powerpoint/2010/main" val="29868798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2A35BE8E-FB98-43C1-BB2F-2F7ECA586F6C}" type="datetimeFigureOut">
              <a:rPr lang="en-IN" smtClean="0"/>
              <a:t>21-08-2025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0656E0A-0341-46E0-96CF-199AB0635D1B}" type="slidenum">
              <a:rPr lang="en-IN" smtClean="0"/>
              <a:t>‹#›</a:t>
            </a:fld>
            <a:endParaRPr lang="en-IN"/>
          </a:p>
        </p:txBody>
      </p:sp>
    </p:spTree>
    <p:extLst>
      <p:ext uri="{BB962C8B-B14F-4D97-AF65-F5344CB8AC3E}">
        <p14:creationId xmlns:p14="http://schemas.microsoft.com/office/powerpoint/2010/main" val="17119054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2A35BE8E-FB98-43C1-BB2F-2F7ECA586F6C}" type="datetimeFigureOut">
              <a:rPr lang="en-IN" smtClean="0"/>
              <a:t>21-08-2025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0656E0A-0341-46E0-96CF-199AB0635D1B}" type="slidenum">
              <a:rPr lang="en-IN" smtClean="0"/>
              <a:t>‹#›</a:t>
            </a:fld>
            <a:endParaRPr lang="en-IN"/>
          </a:p>
        </p:txBody>
      </p:sp>
    </p:spTree>
    <p:extLst>
      <p:ext uri="{BB962C8B-B14F-4D97-AF65-F5344CB8AC3E}">
        <p14:creationId xmlns:p14="http://schemas.microsoft.com/office/powerpoint/2010/main" val="9979782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35BE8E-FB98-43C1-BB2F-2F7ECA586F6C}" type="datetimeFigureOut">
              <a:rPr lang="en-IN" smtClean="0"/>
              <a:t>21-08-2025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0656E0A-0341-46E0-96CF-199AB0635D1B}" type="slidenum">
              <a:rPr lang="en-IN" smtClean="0"/>
              <a:t>‹#›</a:t>
            </a:fld>
            <a:endParaRPr lang="en-IN"/>
          </a:p>
        </p:txBody>
      </p:sp>
    </p:spTree>
    <p:extLst>
      <p:ext uri="{BB962C8B-B14F-4D97-AF65-F5344CB8AC3E}">
        <p14:creationId xmlns:p14="http://schemas.microsoft.com/office/powerpoint/2010/main" val="2911238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A35BE8E-FB98-43C1-BB2F-2F7ECA586F6C}" type="datetimeFigureOut">
              <a:rPr lang="en-IN" smtClean="0"/>
              <a:t>21-08-2025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656E0A-0341-46E0-96CF-199AB0635D1B}" type="slidenum">
              <a:rPr lang="en-IN" smtClean="0"/>
              <a:t>‹#›</a:t>
            </a:fld>
            <a:endParaRPr lang="en-IN"/>
          </a:p>
        </p:txBody>
      </p:sp>
    </p:spTree>
    <p:extLst>
      <p:ext uri="{BB962C8B-B14F-4D97-AF65-F5344CB8AC3E}">
        <p14:creationId xmlns:p14="http://schemas.microsoft.com/office/powerpoint/2010/main" val="39359521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2A35BE8E-FB98-43C1-BB2F-2F7ECA586F6C}" type="datetimeFigureOut">
              <a:rPr lang="en-IN" smtClean="0"/>
              <a:t>21-08-2025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0656E0A-0341-46E0-96CF-199AB0635D1B}" type="slidenum">
              <a:rPr lang="en-IN" smtClean="0"/>
              <a:t>‹#›</a:t>
            </a:fld>
            <a:endParaRPr lang="en-IN"/>
          </a:p>
        </p:txBody>
      </p:sp>
    </p:spTree>
    <p:extLst>
      <p:ext uri="{BB962C8B-B14F-4D97-AF65-F5344CB8AC3E}">
        <p14:creationId xmlns:p14="http://schemas.microsoft.com/office/powerpoint/2010/main" val="4150129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A35BE8E-FB98-43C1-BB2F-2F7ECA586F6C}" type="datetimeFigureOut">
              <a:rPr lang="en-IN" smtClean="0"/>
              <a:t>21-08-2025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656E0A-0341-46E0-96CF-199AB0635D1B}" type="slidenum">
              <a:rPr lang="en-IN" smtClean="0"/>
              <a:t>‹#›</a:t>
            </a:fld>
            <a:endParaRPr lang="en-IN"/>
          </a:p>
        </p:txBody>
      </p:sp>
    </p:spTree>
    <p:extLst>
      <p:ext uri="{BB962C8B-B14F-4D97-AF65-F5344CB8AC3E}">
        <p14:creationId xmlns:p14="http://schemas.microsoft.com/office/powerpoint/2010/main" val="1692177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A35BE8E-FB98-43C1-BB2F-2F7ECA586F6C}" type="datetimeFigureOut">
              <a:rPr lang="en-IN" smtClean="0"/>
              <a:t>21-08-2025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0656E0A-0341-46E0-96CF-199AB0635D1B}" type="slidenum">
              <a:rPr lang="en-IN" smtClean="0"/>
              <a:t>‹#›</a:t>
            </a:fld>
            <a:endParaRPr lang="en-IN"/>
          </a:p>
        </p:txBody>
      </p:sp>
    </p:spTree>
    <p:extLst>
      <p:ext uri="{BB962C8B-B14F-4D97-AF65-F5344CB8AC3E}">
        <p14:creationId xmlns:p14="http://schemas.microsoft.com/office/powerpoint/2010/main" val="25620642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35BE8E-FB98-43C1-BB2F-2F7ECA586F6C}" type="datetimeFigureOut">
              <a:rPr lang="en-IN" smtClean="0"/>
              <a:t>21-08-2025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656E0A-0341-46E0-96CF-199AB0635D1B}" type="slidenum">
              <a:rPr lang="en-IN" smtClean="0"/>
              <a:t>‹#›</a:t>
            </a:fld>
            <a:endParaRPr lang="en-IN"/>
          </a:p>
        </p:txBody>
      </p:sp>
    </p:spTree>
    <p:extLst>
      <p:ext uri="{BB962C8B-B14F-4D97-AF65-F5344CB8AC3E}">
        <p14:creationId xmlns:p14="http://schemas.microsoft.com/office/powerpoint/2010/main" val="29391650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62863" y="3267859"/>
            <a:ext cx="2286000" cy="523220"/>
          </a:xfrm>
          <a:prstGeom prst="rect">
            <a:avLst/>
          </a:prstGeom>
        </p:spPr>
        <p:txBody>
          <a:bodyPr>
            <a:spAutoFit/>
          </a:bodyPr>
          <a:lstStyle/>
          <a:p>
            <a:pPr lvl="0" algn="ctr"/>
            <a:r>
              <a:rPr lang="en-US" sz="2800" dirty="0">
                <a:solidFill>
                  <a:srgbClr val="C00000"/>
                </a:solidFill>
                <a:latin typeface="Times New Roman" pitchFamily="18" charset="0"/>
                <a:cs typeface="Times New Roman" pitchFamily="18" charset="0"/>
              </a:rPr>
              <a:t> </a:t>
            </a:r>
          </a:p>
        </p:txBody>
      </p:sp>
      <p:sp>
        <p:nvSpPr>
          <p:cNvPr id="6" name="Rectangle 2"/>
          <p:cNvSpPr>
            <a:spLocks noChangeArrowheads="1"/>
          </p:cNvSpPr>
          <p:nvPr/>
        </p:nvSpPr>
        <p:spPr bwMode="auto">
          <a:xfrm>
            <a:off x="1524001"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dirty="0">
              <a:latin typeface="Arial" pitchFamily="34" charset="0"/>
              <a:cs typeface="Arial" pitchFamily="34" charset="0"/>
            </a:endParaRPr>
          </a:p>
        </p:txBody>
      </p:sp>
      <p:sp>
        <p:nvSpPr>
          <p:cNvPr id="7" name="Rectangle 3"/>
          <p:cNvSpPr>
            <a:spLocks noChangeArrowheads="1"/>
          </p:cNvSpPr>
          <p:nvPr/>
        </p:nvSpPr>
        <p:spPr bwMode="auto">
          <a:xfrm>
            <a:off x="1524001" y="5011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fontAlgn="base">
              <a:spcBef>
                <a:spcPct val="0"/>
              </a:spcBef>
              <a:spcAft>
                <a:spcPct val="0"/>
              </a:spcAft>
            </a:pPr>
            <a:endParaRPr lang="en-US" dirty="0">
              <a:latin typeface="Arial" pitchFamily="34" charset="0"/>
              <a:cs typeface="Arial" pitchFamily="34" charset="0"/>
            </a:endParaRPr>
          </a:p>
        </p:txBody>
      </p:sp>
      <p:sp>
        <p:nvSpPr>
          <p:cNvPr id="8" name="AutoShape 8" descr="psg tech logo க்கான பட முடிவு"/>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9" name="AutoShape 10" descr="psg tech logo க்கான பட முடிவு"/>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0" name="AutoShape 12" descr="psg tech logo க்கான பட முடிவு"/>
          <p:cNvSpPr>
            <a:spLocks noChangeAspect="1" noChangeArrowheads="1"/>
          </p:cNvSpPr>
          <p:nvPr/>
        </p:nvSpPr>
        <p:spPr bwMode="auto">
          <a:xfrm>
            <a:off x="1984375" y="160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1" name="AutoShape 14" descr="psg tech logo க்கான பட முடிவு"/>
          <p:cNvSpPr>
            <a:spLocks noChangeAspect="1" noChangeArrowheads="1"/>
          </p:cNvSpPr>
          <p:nvPr/>
        </p:nvSpPr>
        <p:spPr bwMode="auto">
          <a:xfrm>
            <a:off x="2136775" y="3127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2" name="AutoShape 16" descr="psg tech logo க்கான பட முடிவு"/>
          <p:cNvSpPr>
            <a:spLocks noChangeAspect="1" noChangeArrowheads="1"/>
          </p:cNvSpPr>
          <p:nvPr/>
        </p:nvSpPr>
        <p:spPr bwMode="auto">
          <a:xfrm>
            <a:off x="-1870297" y="-1231700"/>
            <a:ext cx="90060" cy="9006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3" name="AutoShape 18" descr="psg tech logo க்கான பட முடிவு"/>
          <p:cNvSpPr>
            <a:spLocks noChangeAspect="1" noChangeArrowheads="1"/>
          </p:cNvSpPr>
          <p:nvPr/>
        </p:nvSpPr>
        <p:spPr bwMode="auto">
          <a:xfrm>
            <a:off x="2441575" y="617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4" name="AutoShape 20" descr="psg tech logo க்கான பட முடிவு"/>
          <p:cNvSpPr>
            <a:spLocks noChangeAspect="1" noChangeArrowheads="1"/>
          </p:cNvSpPr>
          <p:nvPr/>
        </p:nvSpPr>
        <p:spPr bwMode="auto">
          <a:xfrm>
            <a:off x="2593975" y="769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5" name="AutoShape 22" descr="psg tech logo க்கான பட முடிவு"/>
          <p:cNvSpPr>
            <a:spLocks noChangeAspect="1" noChangeArrowheads="1"/>
          </p:cNvSpPr>
          <p:nvPr/>
        </p:nvSpPr>
        <p:spPr bwMode="auto">
          <a:xfrm>
            <a:off x="2746375" y="922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16" name="AutoShape 24" descr="psg tech logo க்கான பட முடிவு"/>
          <p:cNvSpPr>
            <a:spLocks noChangeAspect="1" noChangeArrowheads="1"/>
          </p:cNvSpPr>
          <p:nvPr/>
        </p:nvSpPr>
        <p:spPr bwMode="auto">
          <a:xfrm>
            <a:off x="2898775" y="10747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p>
        </p:txBody>
      </p:sp>
      <p:sp>
        <p:nvSpPr>
          <p:cNvPr id="23" name="Text Box 4"/>
          <p:cNvSpPr txBox="1">
            <a:spLocks noChangeArrowheads="1"/>
          </p:cNvSpPr>
          <p:nvPr/>
        </p:nvSpPr>
        <p:spPr bwMode="auto">
          <a:xfrm>
            <a:off x="2441575" y="376309"/>
            <a:ext cx="7083425" cy="954107"/>
          </a:xfrm>
          <a:prstGeom prst="rect">
            <a:avLst/>
          </a:prstGeom>
          <a:noFill/>
          <a:ln w="9525">
            <a:noFill/>
            <a:miter lim="800000"/>
            <a:headEnd/>
            <a:tailEnd/>
          </a:ln>
        </p:spPr>
        <p:txBody>
          <a:bodyPr wrap="square">
            <a:spAutoFit/>
          </a:bodyPr>
          <a:lstStyle/>
          <a:p>
            <a:pPr algn="ctr"/>
            <a:r>
              <a:rPr lang="en-US" sz="2800" b="1" dirty="0">
                <a:solidFill>
                  <a:srgbClr val="002060"/>
                </a:solidFill>
                <a:cs typeface="Arial" pitchFamily="34" charset="0"/>
              </a:rPr>
              <a:t>Project review</a:t>
            </a:r>
          </a:p>
          <a:p>
            <a:pPr algn="ctr"/>
            <a:r>
              <a:rPr lang="en-US" sz="2800" b="1" dirty="0">
                <a:solidFill>
                  <a:srgbClr val="002060"/>
                </a:solidFill>
                <a:cs typeface="Arial" pitchFamily="34" charset="0"/>
              </a:rPr>
              <a:t>(</a:t>
            </a:r>
            <a:r>
              <a:rPr lang="en-IN" sz="2800" b="1" dirty="0">
                <a:solidFill>
                  <a:srgbClr val="002060"/>
                </a:solidFill>
                <a:cs typeface="Arial" pitchFamily="34" charset="0"/>
              </a:rPr>
              <a:t>22AIE201 FUNDAMENTALS OF AI</a:t>
            </a:r>
            <a:r>
              <a:rPr lang="en-US" sz="2800" b="1" dirty="0">
                <a:solidFill>
                  <a:srgbClr val="002060"/>
                </a:solidFill>
                <a:cs typeface="Arial" pitchFamily="34" charset="0"/>
              </a:rPr>
              <a:t>)</a:t>
            </a:r>
          </a:p>
        </p:txBody>
      </p:sp>
      <p:sp>
        <p:nvSpPr>
          <p:cNvPr id="21" name="Date Placeholder 20"/>
          <p:cNvSpPr>
            <a:spLocks noGrp="1"/>
          </p:cNvSpPr>
          <p:nvPr>
            <p:ph type="dt" sz="half" idx="10"/>
          </p:nvPr>
        </p:nvSpPr>
        <p:spPr>
          <a:xfrm>
            <a:off x="7801" y="6481691"/>
            <a:ext cx="2743200" cy="365125"/>
          </a:xfrm>
        </p:spPr>
        <p:txBody>
          <a:bodyPr/>
          <a:lstStyle/>
          <a:p>
            <a:fld id="{125360F1-ADF4-49E6-B5E1-76B39F3A0109}" type="datetime5">
              <a:rPr lang="en-US" smtClean="0"/>
              <a:pPr/>
              <a:t>21-Aug-25</a:t>
            </a:fld>
            <a:endParaRPr lang="en-US" dirty="0"/>
          </a:p>
        </p:txBody>
      </p:sp>
      <p:sp>
        <p:nvSpPr>
          <p:cNvPr id="20" name="Rectangle 7"/>
          <p:cNvSpPr>
            <a:extLst>
              <a:ext uri="smNativeData">
                <pr:smNativeData xmlns="" xmlns:p14="http://schemas.microsoft.com/office/powerpoint/2010/main" xmlns:pr="smNativeData" val="SMDATA_13_nKjYYBMAAAAlAAAAZAAAAE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r6+sKAAAAACgAAAAoAAAAZAAAAGQAAAAAAAAAzMzMAAAAAABQAAAAUAAAAGQAAABkAAAAAAAAABcAAAAUAAAAAAAAAAAAAAD/fwAA/38AAAAAAAAJAAAABAAAAAAAAAAMAAAAEAAAAAAAAAAAAAAAAAAAAAAAAAAeAAAAaAAAAAAAAAAAAAAAAAAAAAAAAAAAAAAAECcAABAnAAAAAAAAAAAAAAAAAAAAAAAAAAAAAAAAAAAAAAAAAAAAABQAAAAAAAAAwMD/AAAAAABkAAAAMgAAAAAAAABkAAAAAAAAAH9/fwAKAAAAHwAAAFQAAAD///8A////AQAAAAAAAAAAAAAAAAAAAAAAAAAAAAAAAAAAAAAAAAAAAAAAAH9/fwDr6+sDzMzMAMDA/wB/f38AAAAAAAAAAAAAAAAAAAAAAAAAAAAhAAAAGAAAABQAAABgAAAADgMAAABLAAAyCwAAECAAACYAAAAIAAAA//////////8="/>
              </a:ext>
            </a:extLst>
          </p:cNvSpPr>
          <p:nvPr/>
        </p:nvSpPr>
        <p:spPr>
          <a:xfrm>
            <a:off x="7801" y="1742866"/>
            <a:ext cx="12192000" cy="1001907"/>
          </a:xfrm>
          <a:prstGeom prst="rect">
            <a:avLst/>
          </a:prstGeom>
          <a:solidFill>
            <a:schemeClr val="bg1">
              <a:lumMod val="95000"/>
            </a:schemeClr>
          </a:solidFill>
          <a:ln>
            <a:noFill/>
          </a:ln>
        </p:spPr>
        <p:txBody>
          <a:bodyPr vert="horz" wrap="square" lIns="91440" tIns="45720" rIns="91440" bIns="45720" numCol="1" anchor="ctr" anchorCtr="0" compatLnSpc="1">
            <a:prstTxWarp prst="textNoShape">
              <a:avLst/>
            </a:prstTxWarp>
          </a:bodyPr>
          <a:lstStyle/>
          <a:p>
            <a:pPr algn="ctr" eaLnBrk="0" fontAlgn="base" hangingPunct="0">
              <a:spcBef>
                <a:spcPct val="0"/>
              </a:spcBef>
              <a:spcAft>
                <a:spcPct val="0"/>
              </a:spcAft>
            </a:pPr>
            <a:r>
              <a:rPr lang="en-US" sz="2400" b="1" dirty="0">
                <a:solidFill>
                  <a:srgbClr val="000099"/>
                </a:solidFill>
                <a:latin typeface="Times New Roman" panose="02020603050405020304" pitchFamily="18" charset="0"/>
                <a:ea typeface="+mj-ea"/>
                <a:cs typeface="Times New Roman" panose="02020603050405020304" pitchFamily="18" charset="0"/>
              </a:rPr>
              <a:t>Solving Tic-Tac-Toe: Autonomous Mastery through Self-Play with a Rainbow DQN Agent</a:t>
            </a:r>
          </a:p>
        </p:txBody>
      </p:sp>
      <p:sp>
        <p:nvSpPr>
          <p:cNvPr id="22" name="Content Placeholder 2"/>
          <p:cNvSpPr txBox="1">
            <a:spLocks/>
          </p:cNvSpPr>
          <p:nvPr/>
        </p:nvSpPr>
        <p:spPr>
          <a:xfrm>
            <a:off x="7801" y="2921076"/>
            <a:ext cx="12192000" cy="1958495"/>
          </a:xfrm>
          <a:prstGeom prst="rect">
            <a:avLst/>
          </a:prstGeom>
        </p:spPr>
        <p:txBody>
          <a:bodyPr>
            <a:noAutofit/>
          </a:bodyPr>
          <a:lstStyle/>
          <a:p>
            <a:pPr marL="342900" indent="-342900" algn="ctr" eaLnBrk="1" fontAlgn="auto" hangingPunct="1">
              <a:spcBef>
                <a:spcPct val="20000"/>
              </a:spcBef>
              <a:spcAft>
                <a:spcPts val="0"/>
              </a:spcAft>
              <a:defRPr/>
            </a:pPr>
            <a:r>
              <a:rPr lang="en-US" sz="2000" b="1" dirty="0">
                <a:solidFill>
                  <a:srgbClr val="00B050"/>
                </a:solidFill>
              </a:rPr>
              <a:t>TEAM -3</a:t>
            </a:r>
          </a:p>
          <a:p>
            <a:pPr marL="342900" indent="-342900" algn="ctr">
              <a:lnSpc>
                <a:spcPct val="80000"/>
              </a:lnSpc>
              <a:spcBef>
                <a:spcPct val="20000"/>
              </a:spcBef>
              <a:defRPr/>
            </a:pPr>
            <a:r>
              <a:rPr lang="en-US" sz="2000" b="1" dirty="0">
                <a:solidFill>
                  <a:srgbClr val="7030A0"/>
                </a:solidFill>
                <a:latin typeface="Nyala" pitchFamily="2" charset="0"/>
              </a:rPr>
              <a:t>B Sainath Reddy (CB.SC.U4AIE24309)</a:t>
            </a:r>
          </a:p>
          <a:p>
            <a:pPr marL="342900" indent="-342900" algn="ctr">
              <a:lnSpc>
                <a:spcPct val="80000"/>
              </a:lnSpc>
              <a:spcBef>
                <a:spcPct val="20000"/>
              </a:spcBef>
              <a:defRPr/>
            </a:pPr>
            <a:r>
              <a:rPr lang="en-US" sz="2000" b="1" dirty="0">
                <a:solidFill>
                  <a:srgbClr val="7030A0"/>
                </a:solidFill>
                <a:latin typeface="Nyala" pitchFamily="2" charset="0"/>
              </a:rPr>
              <a:t>K Pushpak Siva Sai (CB.SC.U4AIE24328)</a:t>
            </a:r>
          </a:p>
          <a:p>
            <a:pPr marL="342900" indent="-342900" algn="ctr">
              <a:lnSpc>
                <a:spcPct val="80000"/>
              </a:lnSpc>
              <a:spcBef>
                <a:spcPct val="20000"/>
              </a:spcBef>
              <a:defRPr/>
            </a:pPr>
            <a:r>
              <a:rPr lang="en-US" sz="2000" b="1" dirty="0">
                <a:solidFill>
                  <a:srgbClr val="7030A0"/>
                </a:solidFill>
                <a:latin typeface="Nyala" pitchFamily="2" charset="0"/>
              </a:rPr>
              <a:t>P Manohar (CB.SC.U4AIE24339)</a:t>
            </a:r>
          </a:p>
          <a:p>
            <a:pPr marL="342900" indent="-342900" algn="ctr">
              <a:lnSpc>
                <a:spcPct val="80000"/>
              </a:lnSpc>
              <a:spcBef>
                <a:spcPct val="20000"/>
              </a:spcBef>
              <a:defRPr/>
            </a:pPr>
            <a:r>
              <a:rPr lang="en-US" sz="2000" b="1" dirty="0">
                <a:solidFill>
                  <a:srgbClr val="7030A0"/>
                </a:solidFill>
                <a:latin typeface="Nyala" pitchFamily="2" charset="0"/>
              </a:rPr>
              <a:t>P Mrudula (CB.SC.U4AIE24340)</a:t>
            </a:r>
            <a:br>
              <a:rPr lang="en-US" sz="2000" b="1" dirty="0">
                <a:solidFill>
                  <a:srgbClr val="7030A0"/>
                </a:solidFill>
                <a:latin typeface="Nyala" pitchFamily="2" charset="0"/>
              </a:rPr>
            </a:br>
            <a:endParaRPr lang="en-US" sz="2000" dirty="0">
              <a:latin typeface="Nyala" pitchFamily="2" charset="0"/>
            </a:endParaRPr>
          </a:p>
        </p:txBody>
      </p:sp>
      <p:sp>
        <p:nvSpPr>
          <p:cNvPr id="4" name="AutoShape 2" descr="Anna university Logo PNG Vector (CDR ..."/>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18" name="AutoShape 4" descr="Amrita Vishwa Logo PNG Vectors Free Download">
            <a:extLst>
              <a:ext uri="{FF2B5EF4-FFF2-40B4-BE49-F238E27FC236}">
                <a16:creationId xmlns:a16="http://schemas.microsoft.com/office/drawing/2014/main" id="{A7997260-D5BF-F5C4-CEC4-AF9EAD57FFFE}"/>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32" name="Picture 8" descr="Amrita Vishwa Vidyapeetham">
            <a:extLst>
              <a:ext uri="{FF2B5EF4-FFF2-40B4-BE49-F238E27FC236}">
                <a16:creationId xmlns:a16="http://schemas.microsoft.com/office/drawing/2014/main" id="{32E6BD6A-5E21-7B76-636A-B95E10FB11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45625" y="7937"/>
            <a:ext cx="2681703" cy="1001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10166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
            <a:ext cx="12192000" cy="461665"/>
          </a:xfrm>
          <a:prstGeom prst="rect">
            <a:avLst/>
          </a:prstGeom>
          <a:solidFill>
            <a:schemeClr val="bg1">
              <a:lumMod val="95000"/>
            </a:schemeClr>
          </a:solidFill>
        </p:spPr>
        <p:txBody>
          <a:bodyPr wrap="square" rtlCol="0">
            <a:spAutoFit/>
          </a:bodyPr>
          <a:lstStyle/>
          <a:p>
            <a:pPr algn="ctr"/>
            <a:r>
              <a:rPr lang="en-US" altLang="en-US" sz="2400" b="1" dirty="0">
                <a:solidFill>
                  <a:srgbClr val="000099"/>
                </a:solidFill>
                <a:latin typeface="Times New Roman" panose="02020603050405020304" pitchFamily="18" charset="0"/>
                <a:cs typeface="Times New Roman" panose="02020603050405020304" pitchFamily="18" charset="0"/>
              </a:rPr>
              <a:t>PRESENTATION OUTLINE</a:t>
            </a:r>
            <a:endParaRPr lang="en-IN" sz="2400" dirty="0"/>
          </a:p>
        </p:txBody>
      </p:sp>
      <p:sp>
        <p:nvSpPr>
          <p:cNvPr id="3" name="Rectangle 2"/>
          <p:cNvSpPr/>
          <p:nvPr/>
        </p:nvSpPr>
        <p:spPr>
          <a:xfrm>
            <a:off x="657497" y="686128"/>
            <a:ext cx="11007634" cy="2970044"/>
          </a:xfrm>
          <a:prstGeom prst="rect">
            <a:avLst/>
          </a:prstGeom>
        </p:spPr>
        <p:txBody>
          <a:bodyPr wrap="square">
            <a:spAutoFit/>
          </a:bodyPr>
          <a:lstStyle/>
          <a:p>
            <a:pPr marL="285750" indent="-285750">
              <a:spcBef>
                <a:spcPts val="600"/>
              </a:spcBef>
              <a:buFont typeface="Wingdings" panose="05000000000000000000" pitchFamily="2" charset="2"/>
              <a:buChar char="q"/>
              <a:defRPr/>
            </a:pPr>
            <a:r>
              <a:rPr lang="en-US" sz="1900" dirty="0">
                <a:latin typeface="Leelawadee" panose="020B0502040204020203" pitchFamily="34" charset="-34"/>
                <a:ea typeface="+mj-ea"/>
                <a:cs typeface="Leelawadee" panose="020B0502040204020203" pitchFamily="34" charset="-34"/>
              </a:rPr>
              <a:t>Introduction</a:t>
            </a:r>
          </a:p>
          <a:p>
            <a:pPr marL="285750" indent="-285750">
              <a:spcBef>
                <a:spcPts val="600"/>
              </a:spcBef>
              <a:buFont typeface="Wingdings" panose="05000000000000000000" pitchFamily="2" charset="2"/>
              <a:buChar char="q"/>
              <a:defRPr/>
            </a:pPr>
            <a:r>
              <a:rPr lang="en-US" sz="1900" dirty="0">
                <a:latin typeface="Leelawadee" panose="020B0502040204020203" pitchFamily="34" charset="-34"/>
                <a:ea typeface="+mj-ea"/>
                <a:cs typeface="Leelawadee" panose="020B0502040204020203" pitchFamily="34" charset="-34"/>
              </a:rPr>
              <a:t>Problem Statement </a:t>
            </a:r>
          </a:p>
          <a:p>
            <a:pPr marL="285750" indent="-285750">
              <a:spcBef>
                <a:spcPts val="600"/>
              </a:spcBef>
              <a:buFont typeface="Wingdings" panose="05000000000000000000" pitchFamily="2" charset="2"/>
              <a:buChar char="q"/>
              <a:defRPr/>
            </a:pPr>
            <a:r>
              <a:rPr lang="en-US" sz="1900" dirty="0">
                <a:latin typeface="Leelawadee" panose="020B0502040204020203" pitchFamily="34" charset="-34"/>
                <a:ea typeface="+mj-ea"/>
                <a:cs typeface="Leelawadee" panose="020B0502040204020203" pitchFamily="34" charset="-34"/>
              </a:rPr>
              <a:t>Objective </a:t>
            </a:r>
          </a:p>
          <a:p>
            <a:pPr marL="285750" indent="-285750">
              <a:spcBef>
                <a:spcPts val="600"/>
              </a:spcBef>
              <a:buFont typeface="Wingdings" panose="05000000000000000000" pitchFamily="2" charset="2"/>
              <a:buChar char="q"/>
              <a:defRPr/>
            </a:pPr>
            <a:r>
              <a:rPr lang="en-US" sz="1900" dirty="0">
                <a:latin typeface="Leelawadee" panose="020B0502040204020203" pitchFamily="34" charset="-34"/>
                <a:ea typeface="+mj-ea"/>
                <a:cs typeface="Leelawadee" panose="020B0502040204020203" pitchFamily="34" charset="-34"/>
              </a:rPr>
              <a:t>Methodology </a:t>
            </a:r>
          </a:p>
          <a:p>
            <a:pPr marL="285750" indent="-285750">
              <a:spcBef>
                <a:spcPts val="600"/>
              </a:spcBef>
              <a:buFont typeface="Wingdings" panose="05000000000000000000" pitchFamily="2" charset="2"/>
              <a:buChar char="q"/>
              <a:defRPr/>
            </a:pPr>
            <a:r>
              <a:rPr lang="en-US" sz="1900" dirty="0">
                <a:latin typeface="Leelawadee" panose="020B0502040204020203" pitchFamily="34" charset="-34"/>
                <a:ea typeface="+mj-ea"/>
                <a:cs typeface="Leelawadee" panose="020B0502040204020203" pitchFamily="34" charset="-34"/>
              </a:rPr>
              <a:t>Results</a:t>
            </a:r>
          </a:p>
          <a:p>
            <a:pPr marL="342900" indent="-342900">
              <a:spcBef>
                <a:spcPts val="600"/>
              </a:spcBef>
              <a:buFont typeface="Wingdings" panose="05000000000000000000" pitchFamily="2" charset="2"/>
              <a:buChar char="q"/>
              <a:defRPr/>
            </a:pPr>
            <a:r>
              <a:rPr lang="en-US" sz="1900" dirty="0">
                <a:latin typeface="Leelawadee" panose="020B0502040204020203" pitchFamily="34" charset="-34"/>
                <a:ea typeface="+mj-ea"/>
                <a:cs typeface="Leelawadee" panose="020B0502040204020203" pitchFamily="34" charset="-34"/>
              </a:rPr>
              <a:t>Conclusion</a:t>
            </a:r>
          </a:p>
          <a:p>
            <a:pPr marL="342900" indent="-342900">
              <a:spcBef>
                <a:spcPts val="600"/>
              </a:spcBef>
              <a:buFont typeface="Wingdings" panose="05000000000000000000" pitchFamily="2" charset="2"/>
              <a:buChar char="q"/>
              <a:defRPr/>
            </a:pPr>
            <a:r>
              <a:rPr lang="en-US" sz="1900" dirty="0">
                <a:latin typeface="Leelawadee" panose="020B0502040204020203" pitchFamily="34" charset="-34"/>
                <a:ea typeface="+mj-ea"/>
                <a:cs typeface="Leelawadee" panose="020B0502040204020203" pitchFamily="34" charset="-34"/>
              </a:rPr>
              <a:t>Future scope</a:t>
            </a:r>
          </a:p>
          <a:p>
            <a:pPr marL="342900" indent="-342900">
              <a:spcBef>
                <a:spcPts val="600"/>
              </a:spcBef>
              <a:buFont typeface="Wingdings" panose="05000000000000000000" pitchFamily="2" charset="2"/>
              <a:buChar char="q"/>
              <a:defRPr/>
            </a:pPr>
            <a:r>
              <a:rPr lang="en-US" sz="1900" dirty="0">
                <a:latin typeface="Leelawadee" panose="020B0502040204020203" pitchFamily="34" charset="-34"/>
                <a:ea typeface="+mj-ea"/>
                <a:cs typeface="Leelawadee" panose="020B0502040204020203" pitchFamily="34" charset="-34"/>
              </a:rPr>
              <a:t>References</a:t>
            </a:r>
          </a:p>
        </p:txBody>
      </p:sp>
    </p:spTree>
    <p:extLst>
      <p:ext uri="{BB962C8B-B14F-4D97-AF65-F5344CB8AC3E}">
        <p14:creationId xmlns:p14="http://schemas.microsoft.com/office/powerpoint/2010/main" val="4222768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0"/>
            <a:ext cx="12192000" cy="461665"/>
          </a:xfrm>
          <a:prstGeom prst="rect">
            <a:avLst/>
          </a:prstGeom>
          <a:solidFill>
            <a:schemeClr val="bg1">
              <a:lumMod val="95000"/>
            </a:schemeClr>
          </a:solidFill>
        </p:spPr>
        <p:txBody>
          <a:bodyPr wrap="square" rtlCol="0">
            <a:spAutoFit/>
          </a:bodyPr>
          <a:lstStyle/>
          <a:p>
            <a:pPr algn="ctr"/>
            <a:r>
              <a:rPr lang="en-US" altLang="en-US" sz="2400" b="1" dirty="0">
                <a:solidFill>
                  <a:srgbClr val="000099"/>
                </a:solidFill>
                <a:latin typeface="Times New Roman" panose="02020603050405020304" pitchFamily="18" charset="0"/>
                <a:cs typeface="Times New Roman" panose="02020603050405020304" pitchFamily="18" charset="0"/>
              </a:rPr>
              <a:t>INTRODUCTION</a:t>
            </a:r>
            <a:endParaRPr lang="en-IN" sz="2400" dirty="0"/>
          </a:p>
        </p:txBody>
      </p:sp>
      <p:sp>
        <p:nvSpPr>
          <p:cNvPr id="3" name="TextBox 2">
            <a:extLst>
              <a:ext uri="{FF2B5EF4-FFF2-40B4-BE49-F238E27FC236}">
                <a16:creationId xmlns:a16="http://schemas.microsoft.com/office/drawing/2014/main" id="{5019667C-3FA5-A3D2-81CA-B8B84D857CC2}"/>
              </a:ext>
            </a:extLst>
          </p:cNvPr>
          <p:cNvSpPr txBox="1"/>
          <p:nvPr/>
        </p:nvSpPr>
        <p:spPr>
          <a:xfrm>
            <a:off x="65314" y="595993"/>
            <a:ext cx="11968843" cy="5909310"/>
          </a:xfrm>
          <a:prstGeom prst="rect">
            <a:avLst/>
          </a:prstGeom>
          <a:noFill/>
        </p:spPr>
        <p:txBody>
          <a:bodyPr wrap="square" rtlCol="0">
            <a:spAutoFit/>
          </a:bodyPr>
          <a:lstStyle/>
          <a:p>
            <a:pPr marL="285750" lvl="0" indent="-285750" fontAlgn="base">
              <a:buFont typeface="Arial" panose="020B0604020202020204" pitchFamily="34" charset="0"/>
              <a:buChar char="•"/>
            </a:pPr>
            <a:r>
              <a:rPr lang="en-IN" b="1" dirty="0"/>
              <a:t>The Setup: Self-Play</a:t>
            </a:r>
            <a:endParaRPr lang="en-IN" dirty="0"/>
          </a:p>
          <a:p>
            <a:pPr marL="800100" lvl="1" indent="-342900" fontAlgn="base">
              <a:buFont typeface="+mj-lt"/>
              <a:buAutoNum type="arabicPeriod"/>
            </a:pPr>
            <a:r>
              <a:rPr lang="en-IN" dirty="0"/>
              <a:t>We create two AIs, 'X' and 'O'.</a:t>
            </a:r>
          </a:p>
          <a:p>
            <a:pPr marL="800100" lvl="1" indent="-342900" fontAlgn="base">
              <a:buFont typeface="+mj-lt"/>
              <a:buAutoNum type="arabicPeriod"/>
            </a:pPr>
            <a:r>
              <a:rPr lang="en-IN" dirty="0"/>
              <a:t>They play against each other thousands of times.</a:t>
            </a:r>
          </a:p>
          <a:p>
            <a:pPr marL="800100" lvl="1" indent="-342900" fontAlgn="base">
              <a:buFont typeface="+mj-lt"/>
              <a:buAutoNum type="arabicPeriod"/>
            </a:pPr>
            <a:r>
              <a:rPr lang="en-IN" dirty="0"/>
              <a:t>They only get a reward at the very end of the game:</a:t>
            </a:r>
          </a:p>
          <a:p>
            <a:pPr lvl="2" fontAlgn="base"/>
            <a:r>
              <a:rPr lang="en-IN" b="1" dirty="0"/>
              <a:t>+1 for winning</a:t>
            </a:r>
            <a:r>
              <a:rPr lang="en-IN" dirty="0"/>
              <a:t> </a:t>
            </a:r>
          </a:p>
          <a:p>
            <a:pPr lvl="2" fontAlgn="base"/>
            <a:r>
              <a:rPr lang="en-IN" b="1" dirty="0"/>
              <a:t>-1 for losing</a:t>
            </a:r>
            <a:r>
              <a:rPr lang="en-IN" dirty="0"/>
              <a:t> </a:t>
            </a:r>
          </a:p>
          <a:p>
            <a:pPr lvl="2" fontAlgn="base"/>
            <a:r>
              <a:rPr lang="en-IN" b="1" dirty="0"/>
              <a:t>0 for a draw</a:t>
            </a:r>
            <a:r>
              <a:rPr lang="en-IN" dirty="0"/>
              <a:t> </a:t>
            </a:r>
          </a:p>
          <a:p>
            <a:pPr marL="285750" lvl="0" indent="-285750" fontAlgn="base">
              <a:buFont typeface="Arial" panose="020B0604020202020204" pitchFamily="34" charset="0"/>
              <a:buChar char="•"/>
            </a:pPr>
            <a:r>
              <a:rPr lang="en-IN" b="1" dirty="0"/>
              <a:t>The Challenge: Sparse Rewards</a:t>
            </a:r>
            <a:endParaRPr lang="en-IN" dirty="0"/>
          </a:p>
          <a:p>
            <a:pPr marL="800100" lvl="1" indent="-342900" fontAlgn="base">
              <a:buFont typeface="+mj-lt"/>
              <a:buAutoNum type="arabicPeriod"/>
            </a:pPr>
            <a:r>
              <a:rPr lang="en-IN" dirty="0"/>
              <a:t>The AI makes several moves without any feedback and only finds out if they were good or bad at the very end. It has to deduce which of the earlier moves led to the win or loss.</a:t>
            </a:r>
          </a:p>
          <a:p>
            <a:pPr marL="800100" lvl="1" indent="-342900" fontAlgn="base">
              <a:buFont typeface="+mj-lt"/>
              <a:buAutoNum type="arabicPeriod"/>
            </a:pPr>
            <a:endParaRPr lang="en-IN" dirty="0"/>
          </a:p>
          <a:p>
            <a:pPr marL="285750" lvl="0" indent="-285750" fontAlgn="base">
              <a:buFont typeface="Arial" panose="020B0604020202020204" pitchFamily="34" charset="0"/>
              <a:buChar char="•"/>
            </a:pPr>
            <a:r>
              <a:rPr lang="en-IN" b="1" dirty="0"/>
              <a:t>Markov Decision Process (MDP):</a:t>
            </a:r>
            <a:r>
              <a:rPr lang="en-IN" dirty="0"/>
              <a:t> We're formally solving an MDP. Tic-Tac-Toe is a </a:t>
            </a:r>
            <a:r>
              <a:rPr lang="en-IN" b="1" dirty="0"/>
              <a:t>finite, deterministic MDP</a:t>
            </a:r>
            <a:r>
              <a:rPr lang="en-IN" dirty="0"/>
              <a:t> because there's a limited number of states, and each action leads to a predictable next state. The components are:</a:t>
            </a:r>
          </a:p>
          <a:p>
            <a:pPr lvl="1" fontAlgn="base"/>
            <a:r>
              <a:rPr lang="en-IN" b="1" dirty="0"/>
              <a:t>States (S):</a:t>
            </a:r>
            <a:r>
              <a:rPr lang="en-IN" dirty="0"/>
              <a:t> All possible board configurations.</a:t>
            </a:r>
          </a:p>
          <a:p>
            <a:pPr lvl="1" fontAlgn="base"/>
            <a:r>
              <a:rPr lang="en-IN" b="1" dirty="0"/>
              <a:t>Actions (A):</a:t>
            </a:r>
            <a:r>
              <a:rPr lang="en-IN" dirty="0"/>
              <a:t> Placing a mark in an empty square.</a:t>
            </a:r>
          </a:p>
          <a:p>
            <a:pPr lvl="1" fontAlgn="base"/>
            <a:r>
              <a:rPr lang="en-IN" b="1" dirty="0"/>
              <a:t>Rewards (R):</a:t>
            </a:r>
            <a:r>
              <a:rPr lang="en-IN" dirty="0"/>
              <a:t> The +1, -1, or 0 at the end of the game.</a:t>
            </a:r>
          </a:p>
          <a:p>
            <a:pPr lvl="0" fontAlgn="base"/>
            <a:endParaRPr lang="en-IN" dirty="0"/>
          </a:p>
          <a:p>
            <a:pPr marL="285750" lvl="0" indent="-285750" fontAlgn="base">
              <a:buFont typeface="Arial" panose="020B0604020202020204" pitchFamily="34" charset="0"/>
              <a:buChar char="•"/>
            </a:pPr>
            <a:r>
              <a:rPr lang="en-IN" b="1" dirty="0"/>
              <a:t>Code Connection:</a:t>
            </a:r>
            <a:r>
              <a:rPr lang="en-IN" dirty="0"/>
              <a:t> The </a:t>
            </a:r>
            <a:r>
              <a:rPr lang="en-IN" dirty="0" err="1"/>
              <a:t>TicTacToe</a:t>
            </a:r>
            <a:r>
              <a:rPr lang="en-IN" dirty="0"/>
              <a:t> class perfectly defines our MDP environment. </a:t>
            </a:r>
            <a:r>
              <a:rPr lang="en-IN" dirty="0" err="1"/>
              <a:t>get_state</a:t>
            </a:r>
            <a:r>
              <a:rPr lang="en-IN" dirty="0"/>
              <a:t>() provides the state s, </a:t>
            </a:r>
            <a:r>
              <a:rPr lang="en-IN" dirty="0" err="1"/>
              <a:t>available_moves</a:t>
            </a:r>
            <a:r>
              <a:rPr lang="en-IN" dirty="0"/>
              <a:t>() gives the action space A, and </a:t>
            </a:r>
            <a:r>
              <a:rPr lang="en-IN" dirty="0" err="1"/>
              <a:t>make_move</a:t>
            </a:r>
            <a:r>
              <a:rPr lang="en-IN" dirty="0"/>
              <a:t>() transitions us to the next state s'.</a:t>
            </a:r>
          </a:p>
          <a:p>
            <a:pPr lvl="1" fontAlgn="base"/>
            <a:endParaRPr lang="en-IN" dirty="0"/>
          </a:p>
          <a:p>
            <a:endParaRPr lang="en-IN" dirty="0"/>
          </a:p>
        </p:txBody>
      </p:sp>
    </p:spTree>
    <p:extLst>
      <p:ext uri="{BB962C8B-B14F-4D97-AF65-F5344CB8AC3E}">
        <p14:creationId xmlns:p14="http://schemas.microsoft.com/office/powerpoint/2010/main" val="3463774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192000" cy="369332"/>
          </a:xfrm>
          <a:prstGeom prst="rect">
            <a:avLst/>
          </a:prstGeom>
          <a:solidFill>
            <a:schemeClr val="bg1">
              <a:lumMod val="95000"/>
            </a:schemeClr>
          </a:solidFill>
        </p:spPr>
        <p:txBody>
          <a:bodyPr wrap="square" rtlCol="0">
            <a:spAutoFit/>
          </a:bodyPr>
          <a:lstStyle/>
          <a:p>
            <a:pPr algn="ctr">
              <a:spcBef>
                <a:spcPct val="0"/>
              </a:spcBef>
            </a:pPr>
            <a:r>
              <a:rPr lang="en-IN" b="1" dirty="0"/>
              <a:t>Dueling Deep Q-Network (DQN) </a:t>
            </a:r>
            <a:endParaRPr lang="en-IN" sz="2400" b="1" dirty="0">
              <a:solidFill>
                <a:srgbClr val="000099"/>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E987641-5733-C8E0-6142-6789BEACAF21}"/>
              </a:ext>
            </a:extLst>
          </p:cNvPr>
          <p:cNvSpPr txBox="1"/>
          <p:nvPr/>
        </p:nvSpPr>
        <p:spPr>
          <a:xfrm>
            <a:off x="155121" y="989818"/>
            <a:ext cx="11748408" cy="4247317"/>
          </a:xfrm>
          <a:prstGeom prst="rect">
            <a:avLst/>
          </a:prstGeom>
          <a:noFill/>
        </p:spPr>
        <p:txBody>
          <a:bodyPr wrap="square" rtlCol="0">
            <a:spAutoFit/>
          </a:bodyPr>
          <a:lstStyle/>
          <a:p>
            <a:pPr lvl="0" fontAlgn="base"/>
            <a:r>
              <a:rPr lang="en-IN" b="1" dirty="0"/>
              <a:t>What's a DQN?</a:t>
            </a:r>
            <a:r>
              <a:rPr lang="en-IN" dirty="0"/>
              <a:t> </a:t>
            </a:r>
          </a:p>
          <a:p>
            <a:pPr marL="285750" lvl="0" indent="-285750" fontAlgn="base">
              <a:buFont typeface="Arial" panose="020B0604020202020204" pitchFamily="34" charset="0"/>
              <a:buChar char="•"/>
            </a:pPr>
            <a:r>
              <a:rPr lang="en-IN" dirty="0"/>
              <a:t>A neural network that learns a function called </a:t>
            </a:r>
            <a:r>
              <a:rPr lang="en-IN" b="1" dirty="0"/>
              <a:t>Q(s, a)</a:t>
            </a:r>
            <a:r>
              <a:rPr lang="en-IN" dirty="0"/>
              <a:t>.</a:t>
            </a:r>
          </a:p>
          <a:p>
            <a:pPr marL="800100" lvl="1" indent="-342900" fontAlgn="base">
              <a:buFont typeface="+mj-lt"/>
              <a:buAutoNum type="arabicPeriod"/>
            </a:pPr>
            <a:r>
              <a:rPr lang="en-IN" b="1" dirty="0"/>
              <a:t>s (state):</a:t>
            </a:r>
            <a:r>
              <a:rPr lang="en-IN" dirty="0"/>
              <a:t> The current board layout.</a:t>
            </a:r>
          </a:p>
          <a:p>
            <a:pPr marL="800100" lvl="1" indent="-342900" fontAlgn="base">
              <a:buFont typeface="+mj-lt"/>
              <a:buAutoNum type="arabicPeriod"/>
            </a:pPr>
            <a:r>
              <a:rPr lang="en-IN" b="1" dirty="0"/>
              <a:t>a (action):</a:t>
            </a:r>
            <a:r>
              <a:rPr lang="en-IN" dirty="0"/>
              <a:t> The move to make.</a:t>
            </a:r>
          </a:p>
          <a:p>
            <a:pPr marL="800100" lvl="1" indent="-342900" fontAlgn="base">
              <a:buFont typeface="+mj-lt"/>
              <a:buAutoNum type="arabicPeriod"/>
            </a:pPr>
            <a:r>
              <a:rPr lang="en-IN" b="1" dirty="0"/>
              <a:t>Q(s, a):</a:t>
            </a:r>
            <a:r>
              <a:rPr lang="en-IN" dirty="0"/>
              <a:t> The network's best guess of the total future reward if we make move a from board s. The AI's goal is to always pick the move with the highest Q-value.</a:t>
            </a:r>
          </a:p>
          <a:p>
            <a:pPr lvl="1" fontAlgn="base"/>
            <a:endParaRPr lang="en-IN" dirty="0"/>
          </a:p>
          <a:p>
            <a:pPr marL="285750" lvl="0" indent="-285750" fontAlgn="base">
              <a:buFont typeface="Arial" panose="020B0604020202020204" pitchFamily="34" charset="0"/>
              <a:buChar char="•"/>
            </a:pPr>
            <a:r>
              <a:rPr lang="en-IN" b="1" dirty="0"/>
              <a:t>Our Upgrade: Dueling DQN</a:t>
            </a:r>
            <a:endParaRPr lang="en-IN" dirty="0"/>
          </a:p>
          <a:p>
            <a:pPr lvl="1" fontAlgn="base"/>
            <a:r>
              <a:rPr lang="en-IN" dirty="0"/>
              <a:t>A standard DQN has one output. A Dueling DQN splits the brain into two parts for a smarter decision.</a:t>
            </a:r>
          </a:p>
          <a:p>
            <a:pPr lvl="1" fontAlgn="base"/>
            <a:r>
              <a:rPr lang="en-IN" b="1" dirty="0"/>
              <a:t>1. The Value Stream (Vibe Check):</a:t>
            </a:r>
            <a:endParaRPr lang="en-IN" dirty="0"/>
          </a:p>
          <a:p>
            <a:pPr lvl="2" fontAlgn="base"/>
            <a:r>
              <a:rPr lang="en-IN" dirty="0"/>
              <a:t>Asks: "Overall, is this board position good for me?"</a:t>
            </a:r>
          </a:p>
          <a:p>
            <a:pPr lvl="2" fontAlgn="base"/>
            <a:r>
              <a:rPr lang="en-IN" dirty="0"/>
              <a:t>It outputs a single number, </a:t>
            </a:r>
            <a:r>
              <a:rPr lang="en-IN" b="1" dirty="0"/>
              <a:t>V(s)</a:t>
            </a:r>
            <a:r>
              <a:rPr lang="en-IN" dirty="0"/>
              <a:t>, representing the value of the current state.</a:t>
            </a:r>
          </a:p>
          <a:p>
            <a:pPr lvl="1" fontAlgn="base"/>
            <a:r>
              <a:rPr lang="en-IN" b="1" dirty="0"/>
              <a:t>2. The Advantage Stream (Move Hype):</a:t>
            </a:r>
            <a:endParaRPr lang="en-IN" dirty="0"/>
          </a:p>
          <a:p>
            <a:pPr lvl="2" fontAlgn="base"/>
            <a:r>
              <a:rPr lang="en-IN" dirty="0"/>
              <a:t>Asks: "How much better is this specific move compared to the others?"</a:t>
            </a:r>
          </a:p>
          <a:p>
            <a:r>
              <a:rPr lang="en-IN" dirty="0"/>
              <a:t>It outputs a value for each possible move, </a:t>
            </a:r>
            <a:r>
              <a:rPr lang="en-IN" b="1" dirty="0"/>
              <a:t>A(s, a)</a:t>
            </a:r>
            <a:r>
              <a:rPr lang="en-IN" dirty="0"/>
              <a:t>, representing the advantage of taking that action.</a:t>
            </a:r>
          </a:p>
        </p:txBody>
      </p:sp>
    </p:spTree>
    <p:extLst>
      <p:ext uri="{BB962C8B-B14F-4D97-AF65-F5344CB8AC3E}">
        <p14:creationId xmlns:p14="http://schemas.microsoft.com/office/powerpoint/2010/main" val="19167017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5E6348-F467-163C-3403-35CE8EE35D8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7B78D2F-C4AD-40DF-A711-79B279BC03D2}"/>
              </a:ext>
            </a:extLst>
          </p:cNvPr>
          <p:cNvSpPr txBox="1"/>
          <p:nvPr/>
        </p:nvSpPr>
        <p:spPr>
          <a:xfrm>
            <a:off x="0" y="0"/>
            <a:ext cx="12192000" cy="461665"/>
          </a:xfrm>
          <a:prstGeom prst="rect">
            <a:avLst/>
          </a:prstGeom>
          <a:solidFill>
            <a:schemeClr val="bg1">
              <a:lumMod val="95000"/>
            </a:schemeClr>
          </a:solidFill>
        </p:spPr>
        <p:txBody>
          <a:bodyPr wrap="square" rtlCol="0">
            <a:spAutoFit/>
          </a:bodyPr>
          <a:lstStyle/>
          <a:p>
            <a:pPr algn="ctr">
              <a:spcBef>
                <a:spcPct val="0"/>
              </a:spcBef>
            </a:pPr>
            <a:r>
              <a:rPr lang="en-IN" sz="2400" b="1" dirty="0">
                <a:solidFill>
                  <a:srgbClr val="000099"/>
                </a:solidFill>
                <a:latin typeface="Times New Roman" panose="02020603050405020304" pitchFamily="18" charset="0"/>
                <a:cs typeface="Times New Roman" panose="02020603050405020304" pitchFamily="18" charset="0"/>
              </a:rPr>
              <a:t>Problem Statement</a:t>
            </a:r>
          </a:p>
        </p:txBody>
      </p:sp>
      <p:sp>
        <p:nvSpPr>
          <p:cNvPr id="2" name="TextBox 1">
            <a:extLst>
              <a:ext uri="{FF2B5EF4-FFF2-40B4-BE49-F238E27FC236}">
                <a16:creationId xmlns:a16="http://schemas.microsoft.com/office/drawing/2014/main" id="{87B54887-2383-4ACC-3762-7A1EB4B8C2F8}"/>
              </a:ext>
            </a:extLst>
          </p:cNvPr>
          <p:cNvSpPr txBox="1"/>
          <p:nvPr/>
        </p:nvSpPr>
        <p:spPr>
          <a:xfrm>
            <a:off x="287110" y="700768"/>
            <a:ext cx="11617779" cy="923330"/>
          </a:xfrm>
          <a:prstGeom prst="rect">
            <a:avLst/>
          </a:prstGeom>
          <a:noFill/>
        </p:spPr>
        <p:txBody>
          <a:bodyPr wrap="square" rtlCol="0">
            <a:spAutoFit/>
          </a:bodyPr>
          <a:lstStyle/>
          <a:p>
            <a:pPr marL="285750" indent="-285750">
              <a:buFont typeface="Arial" panose="020B0604020202020204" pitchFamily="34" charset="0"/>
              <a:buChar char="•"/>
            </a:pPr>
            <a:r>
              <a:rPr lang="en-US" dirty="0"/>
              <a:t>To engineer a deep reinforcement learning agent, leveraging state-of-the-art techniques, to autonomously solve the game of Tic-Tac-Toe via self-play. The agent's success is validated by its convergence to the game-theoretic optimal strategy, achieving a perfect and unbeatable 100% win rate.</a:t>
            </a:r>
            <a:endParaRPr lang="en-IN" dirty="0"/>
          </a:p>
        </p:txBody>
      </p:sp>
    </p:spTree>
    <p:extLst>
      <p:ext uri="{BB962C8B-B14F-4D97-AF65-F5344CB8AC3E}">
        <p14:creationId xmlns:p14="http://schemas.microsoft.com/office/powerpoint/2010/main" val="4660560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192000" cy="461665"/>
          </a:xfrm>
          <a:prstGeom prst="rect">
            <a:avLst/>
          </a:prstGeom>
          <a:solidFill>
            <a:schemeClr val="bg1">
              <a:lumMod val="95000"/>
            </a:schemeClr>
          </a:solidFill>
        </p:spPr>
        <p:txBody>
          <a:bodyPr wrap="square" rtlCol="0">
            <a:spAutoFit/>
          </a:bodyPr>
          <a:lstStyle/>
          <a:p>
            <a:pPr algn="ctr">
              <a:spcBef>
                <a:spcPct val="0"/>
              </a:spcBef>
            </a:pPr>
            <a:r>
              <a:rPr lang="en-US" sz="2400" b="1" dirty="0">
                <a:solidFill>
                  <a:srgbClr val="000099"/>
                </a:solidFill>
                <a:latin typeface="Times New Roman" panose="02020603050405020304" pitchFamily="18" charset="0"/>
                <a:cs typeface="Times New Roman" panose="02020603050405020304" pitchFamily="18" charset="0"/>
              </a:rPr>
              <a:t>OBJECTIVE </a:t>
            </a:r>
            <a:endParaRPr lang="en-IN" sz="2400" b="1" dirty="0">
              <a:solidFill>
                <a:srgbClr val="000099"/>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4FCFFD66-9AFF-F208-D4D1-174D93CF935A}"/>
              </a:ext>
            </a:extLst>
          </p:cNvPr>
          <p:cNvSpPr txBox="1"/>
          <p:nvPr/>
        </p:nvSpPr>
        <p:spPr>
          <a:xfrm>
            <a:off x="228600" y="653143"/>
            <a:ext cx="11617779" cy="2862322"/>
          </a:xfrm>
          <a:prstGeom prst="rect">
            <a:avLst/>
          </a:prstGeom>
          <a:noFill/>
        </p:spPr>
        <p:txBody>
          <a:bodyPr wrap="square" rtlCol="0">
            <a:spAutoFit/>
          </a:bodyPr>
          <a:lstStyle/>
          <a:p>
            <a:pPr marL="285750" indent="-285750">
              <a:buFont typeface="Arial" panose="020B0604020202020204" pitchFamily="34" charset="0"/>
              <a:buChar char="•"/>
            </a:pPr>
            <a:r>
              <a:rPr lang="en-US" dirty="0"/>
              <a:t>To design and implement a sophisticated deep reinforcement learning agent by successfully integrating a suite of state-of-the-art algorithms, including Double Dueling Q-Networks, Prioritized Experience Replay, and Noisy Networks for intelligent exploration.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 enable the agent to learn and master the complex, strategic environment of Tic-Tac-Toe entirely through a self-play mechanism, allowing it to discover optimal strategies without any human data, rules, or intervention.</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 rigorously evaluate the agent's learning process and performance through a comprehensive set of metrics, demonstrating the significant advantages in learning efficiency and strategic capability over simpler, traditional reinforcement learning models.</a:t>
            </a:r>
            <a:endParaRPr lang="en-IN" dirty="0"/>
          </a:p>
        </p:txBody>
      </p:sp>
    </p:spTree>
    <p:extLst>
      <p:ext uri="{BB962C8B-B14F-4D97-AF65-F5344CB8AC3E}">
        <p14:creationId xmlns:p14="http://schemas.microsoft.com/office/powerpoint/2010/main" val="5058893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192000" cy="461665"/>
          </a:xfrm>
          <a:prstGeom prst="rect">
            <a:avLst/>
          </a:prstGeom>
          <a:solidFill>
            <a:schemeClr val="bg1">
              <a:lumMod val="95000"/>
            </a:schemeClr>
          </a:solidFill>
        </p:spPr>
        <p:txBody>
          <a:bodyPr wrap="square" rtlCol="0">
            <a:spAutoFit/>
          </a:bodyPr>
          <a:lstStyle/>
          <a:p>
            <a:pPr algn="ctr">
              <a:spcBef>
                <a:spcPct val="0"/>
              </a:spcBef>
            </a:pPr>
            <a:r>
              <a:rPr lang="en-US" sz="2400" b="1" dirty="0">
                <a:solidFill>
                  <a:srgbClr val="000099"/>
                </a:solidFill>
                <a:latin typeface="Times New Roman" panose="02020603050405020304" pitchFamily="18" charset="0"/>
                <a:cs typeface="Times New Roman" panose="02020603050405020304" pitchFamily="18" charset="0"/>
              </a:rPr>
              <a:t>METHODOLOGY </a:t>
            </a:r>
            <a:endParaRPr lang="en-IN" sz="2400" b="1" dirty="0">
              <a:solidFill>
                <a:srgbClr val="000099"/>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300DC5B-9A66-E735-AD4F-D665490BBD03}"/>
              </a:ext>
            </a:extLst>
          </p:cNvPr>
          <p:cNvSpPr txBox="1"/>
          <p:nvPr/>
        </p:nvSpPr>
        <p:spPr>
          <a:xfrm>
            <a:off x="76200" y="552450"/>
            <a:ext cx="11791950" cy="6186309"/>
          </a:xfrm>
          <a:prstGeom prst="rect">
            <a:avLst/>
          </a:prstGeom>
          <a:noFill/>
        </p:spPr>
        <p:txBody>
          <a:bodyPr wrap="square" rtlCol="0">
            <a:spAutoFit/>
          </a:bodyPr>
          <a:lstStyle/>
          <a:p>
            <a:r>
              <a:rPr lang="en-US" b="1" dirty="0"/>
              <a:t>1. The Environment: Self-Play Arena</a:t>
            </a:r>
            <a:endParaRPr lang="en-US" dirty="0"/>
          </a:p>
          <a:p>
            <a:pPr marL="285750" indent="-285750">
              <a:buFont typeface="Arial" panose="020B0604020202020204" pitchFamily="34" charset="0"/>
              <a:buChar char="•"/>
            </a:pPr>
            <a:r>
              <a:rPr lang="en-US" dirty="0"/>
              <a:t>A standard 3x3 Tic-Tac-Toe game was established as the learning environment.</a:t>
            </a:r>
          </a:p>
          <a:p>
            <a:pPr marL="285750" indent="-285750">
              <a:buFont typeface="Arial" panose="020B0604020202020204" pitchFamily="34" charset="0"/>
              <a:buChar char="•"/>
            </a:pPr>
            <a:r>
              <a:rPr lang="en-US" dirty="0"/>
              <a:t>Two identical agents, Player X and Player O, were created to compete against each other.</a:t>
            </a:r>
          </a:p>
          <a:p>
            <a:pPr marL="285750" indent="-285750">
              <a:buFont typeface="Arial" panose="020B0604020202020204" pitchFamily="34" charset="0"/>
              <a:buChar char="•"/>
            </a:pPr>
            <a:r>
              <a:rPr lang="en-IN" dirty="0"/>
              <a:t>The environment provides the state </a:t>
            </a:r>
            <a:r>
              <a:rPr lang="en-US" dirty="0"/>
              <a:t>(the board layout) and assigns rewards at the end of each game: +1 for a win, -1 for a loss, and 0 for a draw.</a:t>
            </a:r>
          </a:p>
          <a:p>
            <a:endParaRPr lang="en-US" dirty="0"/>
          </a:p>
          <a:p>
            <a:r>
              <a:rPr lang="en-US" b="1" dirty="0"/>
              <a:t>2. The Agent: Advanced AI Architecture</a:t>
            </a:r>
          </a:p>
          <a:p>
            <a:pPr marL="285750" indent="-285750">
              <a:buFont typeface="Arial" panose="020B0604020202020204" pitchFamily="34" charset="0"/>
              <a:buChar char="•"/>
            </a:pPr>
            <a:r>
              <a:rPr lang="en-IN" dirty="0"/>
              <a:t>Our DQN Agent </a:t>
            </a:r>
            <a:r>
              <a:rPr lang="en-US" dirty="0"/>
              <a:t>was built with a state-of-the-art architecture, not a simple model.</a:t>
            </a:r>
          </a:p>
          <a:p>
            <a:pPr marL="285750" indent="-285750">
              <a:buFont typeface="Arial" panose="020B0604020202020204" pitchFamily="34" charset="0"/>
              <a:buChar char="•"/>
            </a:pPr>
            <a:r>
              <a:rPr lang="en-US" b="1" dirty="0"/>
              <a:t>Core Model:</a:t>
            </a:r>
            <a:r>
              <a:rPr lang="en-US" dirty="0"/>
              <a:t> A Deep Q-Network (DQN) serves as the agent's brain, using a neural network to predict the best possible move.</a:t>
            </a:r>
          </a:p>
          <a:p>
            <a:pPr marL="285750" indent="-285750">
              <a:buFont typeface="Arial" panose="020B0604020202020204" pitchFamily="34" charset="0"/>
              <a:buChar char="•"/>
            </a:pPr>
            <a:r>
              <a:rPr lang="en-IN" b="1" dirty="0"/>
              <a:t>Network Design(Dueling DQN): </a:t>
            </a:r>
            <a:r>
              <a:rPr lang="en-US" dirty="0"/>
              <a:t>This advanced design helps the agent better understand the value of being in a certain state, separate from the advantage of a specific move.</a:t>
            </a:r>
          </a:p>
          <a:p>
            <a:pPr marL="285750" indent="-285750">
              <a:buFont typeface="Arial" panose="020B0604020202020204" pitchFamily="34" charset="0"/>
              <a:buChar char="•"/>
            </a:pPr>
            <a:r>
              <a:rPr lang="en-IN" b="1" dirty="0"/>
              <a:t>Intelligent Exploration(Noisy Linear): </a:t>
            </a:r>
            <a:r>
              <a:rPr lang="en-US" dirty="0"/>
              <a:t>Instead of basic random moves (epsilon-greedy), we used Noisy Networks. This forces the agent to explore in a smarter, more structured way, leading to faster learning.</a:t>
            </a:r>
            <a:endParaRPr lang="en-US" b="1" dirty="0"/>
          </a:p>
          <a:p>
            <a:endParaRPr lang="en-US" dirty="0"/>
          </a:p>
          <a:p>
            <a:r>
              <a:rPr lang="en-US" b="1" dirty="0"/>
              <a:t>3. The Process: The Learning Loop</a:t>
            </a:r>
          </a:p>
          <a:p>
            <a:pPr marL="285750" indent="-285750">
              <a:buFont typeface="Arial" panose="020B0604020202020204" pitchFamily="34" charset="0"/>
              <a:buChar char="•"/>
            </a:pPr>
            <a:r>
              <a:rPr lang="en-IN" dirty="0"/>
              <a:t>Play &amp; Store</a:t>
            </a:r>
          </a:p>
          <a:p>
            <a:pPr marL="285750" indent="-285750">
              <a:buFont typeface="Arial" panose="020B0604020202020204" pitchFamily="34" charset="0"/>
              <a:buChar char="•"/>
            </a:pPr>
            <a:r>
              <a:rPr lang="en-IN" dirty="0"/>
              <a:t>Prioritize (Replay Memory)</a:t>
            </a:r>
          </a:p>
          <a:p>
            <a:pPr marL="285750" indent="-285750">
              <a:buFont typeface="Arial" panose="020B0604020202020204" pitchFamily="34" charset="0"/>
              <a:buChar char="•"/>
            </a:pPr>
            <a:r>
              <a:rPr lang="en-IN" dirty="0"/>
              <a:t>Learn (</a:t>
            </a:r>
            <a:r>
              <a:rPr lang="en-IN" dirty="0" err="1"/>
              <a:t>optimize_model</a:t>
            </a:r>
            <a:r>
              <a:rPr lang="en-IN" dirty="0"/>
              <a:t>) </a:t>
            </a:r>
          </a:p>
          <a:p>
            <a:pPr marL="285750" indent="-285750">
              <a:buFont typeface="Arial" panose="020B0604020202020204" pitchFamily="34" charset="0"/>
              <a:buChar char="•"/>
            </a:pPr>
            <a:r>
              <a:rPr lang="en-IN" dirty="0"/>
              <a:t>Repeat</a:t>
            </a:r>
          </a:p>
          <a:p>
            <a:endParaRPr lang="en-IN" b="1" dirty="0"/>
          </a:p>
          <a:p>
            <a:r>
              <a:rPr lang="en-IN" b="1" dirty="0"/>
              <a:t>4. The Goal: Performance &amp; Evaluation</a:t>
            </a:r>
          </a:p>
        </p:txBody>
      </p:sp>
    </p:spTree>
    <p:extLst>
      <p:ext uri="{BB962C8B-B14F-4D97-AF65-F5344CB8AC3E}">
        <p14:creationId xmlns:p14="http://schemas.microsoft.com/office/powerpoint/2010/main" val="2274078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192000" cy="461665"/>
          </a:xfrm>
          <a:prstGeom prst="rect">
            <a:avLst/>
          </a:prstGeom>
          <a:solidFill>
            <a:schemeClr val="bg1">
              <a:lumMod val="95000"/>
            </a:schemeClr>
          </a:solidFill>
        </p:spPr>
        <p:txBody>
          <a:bodyPr wrap="square" rtlCol="0">
            <a:spAutoFit/>
          </a:bodyPr>
          <a:lstStyle/>
          <a:p>
            <a:pPr algn="ctr">
              <a:spcBef>
                <a:spcPct val="0"/>
              </a:spcBef>
              <a:buFontTx/>
              <a:buNone/>
            </a:pPr>
            <a:r>
              <a:rPr lang="en-US" altLang="en-US" sz="2400" b="1" dirty="0">
                <a:solidFill>
                  <a:srgbClr val="000099"/>
                </a:solidFill>
                <a:latin typeface="Times New Roman" panose="02020603050405020304" pitchFamily="18" charset="0"/>
                <a:cs typeface="Times New Roman" panose="02020603050405020304" pitchFamily="18" charset="0"/>
              </a:rPr>
              <a:t>Results</a:t>
            </a:r>
          </a:p>
        </p:txBody>
      </p:sp>
      <p:graphicFrame>
        <p:nvGraphicFramePr>
          <p:cNvPr id="13" name="Table 12">
            <a:extLst>
              <a:ext uri="{FF2B5EF4-FFF2-40B4-BE49-F238E27FC236}">
                <a16:creationId xmlns:a16="http://schemas.microsoft.com/office/drawing/2014/main" id="{A4DF5276-3074-6175-19C3-B045036679D5}"/>
              </a:ext>
            </a:extLst>
          </p:cNvPr>
          <p:cNvGraphicFramePr>
            <a:graphicFrameLocks noGrp="1"/>
          </p:cNvGraphicFramePr>
          <p:nvPr>
            <p:extLst>
              <p:ext uri="{D42A27DB-BD31-4B8C-83A1-F6EECF244321}">
                <p14:modId xmlns:p14="http://schemas.microsoft.com/office/powerpoint/2010/main" val="3168137009"/>
              </p:ext>
            </p:extLst>
          </p:nvPr>
        </p:nvGraphicFramePr>
        <p:xfrm>
          <a:off x="612321" y="461666"/>
          <a:ext cx="10972800" cy="6012614"/>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864806312"/>
                    </a:ext>
                  </a:extLst>
                </a:gridCol>
                <a:gridCol w="3657600">
                  <a:extLst>
                    <a:ext uri="{9D8B030D-6E8A-4147-A177-3AD203B41FA5}">
                      <a16:colId xmlns:a16="http://schemas.microsoft.com/office/drawing/2014/main" val="654392174"/>
                    </a:ext>
                  </a:extLst>
                </a:gridCol>
                <a:gridCol w="3657600">
                  <a:extLst>
                    <a:ext uri="{9D8B030D-6E8A-4147-A177-3AD203B41FA5}">
                      <a16:colId xmlns:a16="http://schemas.microsoft.com/office/drawing/2014/main" val="2681833423"/>
                    </a:ext>
                  </a:extLst>
                </a:gridCol>
              </a:tblGrid>
              <a:tr h="583387">
                <a:tc>
                  <a:txBody>
                    <a:bodyPr/>
                    <a:lstStyle/>
                    <a:p>
                      <a:r>
                        <a:rPr lang="en-IN" dirty="0"/>
                        <a:t>Feature</a:t>
                      </a:r>
                    </a:p>
                  </a:txBody>
                  <a:tcPr/>
                </a:tc>
                <a:tc>
                  <a:txBody>
                    <a:bodyPr/>
                    <a:lstStyle/>
                    <a:p>
                      <a:r>
                        <a:rPr lang="da-DK" dirty="0"/>
                        <a:t>Journal Paper (Ho et al., 2022)</a:t>
                      </a:r>
                      <a:endParaRPr lang="en-IN" dirty="0"/>
                    </a:p>
                  </a:txBody>
                  <a:tcPr/>
                </a:tc>
                <a:tc>
                  <a:txBody>
                    <a:bodyPr/>
                    <a:lstStyle/>
                    <a:p>
                      <a:r>
                        <a:rPr lang="en-IN" dirty="0"/>
                        <a:t>Our Framework and Results</a:t>
                      </a:r>
                    </a:p>
                  </a:txBody>
                  <a:tcPr/>
                </a:tc>
                <a:extLst>
                  <a:ext uri="{0D108BD9-81ED-4DB2-BD59-A6C34878D82A}">
                    <a16:rowId xmlns:a16="http://schemas.microsoft.com/office/drawing/2014/main" val="1493821089"/>
                  </a:ext>
                </a:extLst>
              </a:tr>
              <a:tr h="833410">
                <a:tc>
                  <a:txBody>
                    <a:bodyPr/>
                    <a:lstStyle/>
                    <a:p>
                      <a:r>
                        <a:rPr lang="en-IN" dirty="0"/>
                        <a:t>Core Algorithm</a:t>
                      </a:r>
                    </a:p>
                  </a:txBody>
                  <a:tcPr/>
                </a:tc>
                <a:tc>
                  <a:txBody>
                    <a:bodyPr/>
                    <a:lstStyle/>
                    <a:p>
                      <a:r>
                        <a:rPr lang="en-IN" dirty="0"/>
                        <a:t>Tabular Q-Learning</a:t>
                      </a:r>
                    </a:p>
                  </a:txBody>
                  <a:tcPr/>
                </a:tc>
                <a:tc>
                  <a:txBody>
                    <a:bodyPr/>
                    <a:lstStyle/>
                    <a:p>
                      <a:r>
                        <a:rPr lang="en-US" dirty="0"/>
                        <a:t>Deep Q-Network (DQN) with Rainbow enhancements</a:t>
                      </a:r>
                      <a:endParaRPr lang="en-IN" dirty="0"/>
                    </a:p>
                  </a:txBody>
                  <a:tcPr/>
                </a:tc>
                <a:extLst>
                  <a:ext uri="{0D108BD9-81ED-4DB2-BD59-A6C34878D82A}">
                    <a16:rowId xmlns:a16="http://schemas.microsoft.com/office/drawing/2014/main" val="3338712557"/>
                  </a:ext>
                </a:extLst>
              </a:tr>
              <a:tr h="1072759">
                <a:tc>
                  <a:txBody>
                    <a:bodyPr/>
                    <a:lstStyle/>
                    <a:p>
                      <a:r>
                        <a:rPr lang="en-IN" dirty="0"/>
                        <a:t>Key Techniques</a:t>
                      </a:r>
                    </a:p>
                  </a:txBody>
                  <a:tcPr/>
                </a:tc>
                <a:tc>
                  <a:txBody>
                    <a:bodyPr/>
                    <a:lstStyle/>
                    <a:p>
                      <a:r>
                        <a:rPr lang="en-IN" dirty="0"/>
                        <a:t>Epsilon-Greedy Strategy</a:t>
                      </a:r>
                    </a:p>
                  </a:txBody>
                  <a:tcPr/>
                </a:tc>
                <a:tc>
                  <a:txBody>
                    <a:bodyPr/>
                    <a:lstStyle/>
                    <a:p>
                      <a:r>
                        <a:rPr lang="en-US" dirty="0"/>
                        <a:t>Double DQN, Dueling DQN, Prioritized Experience Replay, Noisy Networks</a:t>
                      </a:r>
                      <a:endParaRPr lang="en-IN" dirty="0"/>
                    </a:p>
                  </a:txBody>
                  <a:tcPr/>
                </a:tc>
                <a:extLst>
                  <a:ext uri="{0D108BD9-81ED-4DB2-BD59-A6C34878D82A}">
                    <a16:rowId xmlns:a16="http://schemas.microsoft.com/office/drawing/2014/main" val="1160484527"/>
                  </a:ext>
                </a:extLst>
              </a:tr>
              <a:tr h="557190">
                <a:tc>
                  <a:txBody>
                    <a:bodyPr/>
                    <a:lstStyle/>
                    <a:p>
                      <a:r>
                        <a:rPr lang="en-IN" dirty="0"/>
                        <a:t>Training Games</a:t>
                      </a:r>
                    </a:p>
                  </a:txBody>
                  <a:tcPr/>
                </a:tc>
                <a:tc>
                  <a:txBody>
                    <a:bodyPr/>
                    <a:lstStyle/>
                    <a:p>
                      <a:r>
                        <a:rPr lang="en-IN" dirty="0"/>
                        <a:t>300,000</a:t>
                      </a:r>
                    </a:p>
                  </a:txBody>
                  <a:tcPr/>
                </a:tc>
                <a:tc>
                  <a:txBody>
                    <a:bodyPr/>
                    <a:lstStyle/>
                    <a:p>
                      <a:r>
                        <a:rPr lang="en-IN" dirty="0"/>
                        <a:t>25,000</a:t>
                      </a:r>
                    </a:p>
                  </a:txBody>
                  <a:tcPr/>
                </a:tc>
                <a:extLst>
                  <a:ext uri="{0D108BD9-81ED-4DB2-BD59-A6C34878D82A}">
                    <a16:rowId xmlns:a16="http://schemas.microsoft.com/office/drawing/2014/main" val="2574661124"/>
                  </a:ext>
                </a:extLst>
              </a:tr>
              <a:tr h="825200">
                <a:tc>
                  <a:txBody>
                    <a:bodyPr/>
                    <a:lstStyle/>
                    <a:p>
                      <a:r>
                        <a:rPr lang="en-IN" dirty="0"/>
                        <a:t>Exploration Strategy</a:t>
                      </a:r>
                    </a:p>
                  </a:txBody>
                  <a:tcPr/>
                </a:tc>
                <a:tc>
                  <a:txBody>
                    <a:bodyPr/>
                    <a:lstStyle/>
                    <a:p>
                      <a:r>
                        <a:rPr lang="en-IN" dirty="0"/>
                        <a:t>Epsilon-Greedy (simple random chance)</a:t>
                      </a:r>
                    </a:p>
                  </a:txBody>
                  <a:tcPr/>
                </a:tc>
                <a:tc>
                  <a:txBody>
                    <a:bodyPr/>
                    <a:lstStyle/>
                    <a:p>
                      <a:r>
                        <a:rPr lang="en-US" dirty="0"/>
                        <a:t>Noisy Networks (learnable, intelligent exploration)</a:t>
                      </a:r>
                      <a:endParaRPr lang="en-IN" dirty="0"/>
                    </a:p>
                  </a:txBody>
                  <a:tcPr/>
                </a:tc>
                <a:extLst>
                  <a:ext uri="{0D108BD9-81ED-4DB2-BD59-A6C34878D82A}">
                    <a16:rowId xmlns:a16="http://schemas.microsoft.com/office/drawing/2014/main" val="1400980876"/>
                  </a:ext>
                </a:extLst>
              </a:tr>
              <a:tr h="557190">
                <a:tc>
                  <a:txBody>
                    <a:bodyPr/>
                    <a:lstStyle/>
                    <a:p>
                      <a:r>
                        <a:rPr lang="en-IN" dirty="0"/>
                        <a:t>Final Result</a:t>
                      </a:r>
                    </a:p>
                  </a:txBody>
                  <a:tcPr/>
                </a:tc>
                <a:tc>
                  <a:txBody>
                    <a:bodyPr/>
                    <a:lstStyle/>
                    <a:p>
                      <a:r>
                        <a:rPr lang="en-IN" dirty="0"/>
                        <a:t>~90% Win/Tie Rate</a:t>
                      </a:r>
                    </a:p>
                  </a:txBody>
                  <a:tcPr/>
                </a:tc>
                <a:tc>
                  <a:txBody>
                    <a:bodyPr/>
                    <a:lstStyle/>
                    <a:p>
                      <a:r>
                        <a:rPr lang="en-IN" dirty="0"/>
                        <a:t>100% Win Rate</a:t>
                      </a:r>
                    </a:p>
                  </a:txBody>
                  <a:tcPr/>
                </a:tc>
                <a:extLst>
                  <a:ext uri="{0D108BD9-81ED-4DB2-BD59-A6C34878D82A}">
                    <a16:rowId xmlns:a16="http://schemas.microsoft.com/office/drawing/2014/main" val="1092637995"/>
                  </a:ext>
                </a:extLst>
              </a:tr>
              <a:tr h="1583478">
                <a:tc>
                  <a:txBody>
                    <a:bodyPr/>
                    <a:lstStyle/>
                    <a:p>
                      <a:r>
                        <a:rPr lang="en-IN" dirty="0"/>
                        <a:t>Stability</a:t>
                      </a:r>
                    </a:p>
                  </a:txBody>
                  <a:tcPr/>
                </a:tc>
                <a:tc>
                  <a:txBody>
                    <a:bodyPr/>
                    <a:lstStyle/>
                    <a:p>
                      <a:r>
                        <a:rPr lang="en-IN" dirty="0"/>
                        <a:t>Stable, but suboptimal performance.</a:t>
                      </a:r>
                    </a:p>
                  </a:txBody>
                  <a:tcPr/>
                </a:tc>
                <a:tc>
                  <a:txBody>
                    <a:bodyPr/>
                    <a:lstStyle/>
                    <a:p>
                      <a:r>
                        <a:rPr lang="en-US" dirty="0"/>
                        <a:t>Achieved perfect performance, though with some loss instability (a common trait in complex models on simple problems).</a:t>
                      </a:r>
                      <a:endParaRPr lang="en-IN" dirty="0"/>
                    </a:p>
                  </a:txBody>
                  <a:tcPr/>
                </a:tc>
                <a:extLst>
                  <a:ext uri="{0D108BD9-81ED-4DB2-BD59-A6C34878D82A}">
                    <a16:rowId xmlns:a16="http://schemas.microsoft.com/office/drawing/2014/main" val="1738917318"/>
                  </a:ext>
                </a:extLst>
              </a:tr>
            </a:tbl>
          </a:graphicData>
        </a:graphic>
      </p:graphicFrame>
    </p:spTree>
    <p:extLst>
      <p:ext uri="{BB962C8B-B14F-4D97-AF65-F5344CB8AC3E}">
        <p14:creationId xmlns:p14="http://schemas.microsoft.com/office/powerpoint/2010/main" val="32425152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7F6D30-8CDA-28F7-7CD9-3CFDADB7AD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9AA0A1-6A44-1D16-FC5A-DB10FCD71561}"/>
              </a:ext>
            </a:extLst>
          </p:cNvPr>
          <p:cNvSpPr txBox="1"/>
          <p:nvPr/>
        </p:nvSpPr>
        <p:spPr>
          <a:xfrm>
            <a:off x="0" y="0"/>
            <a:ext cx="12192000" cy="461665"/>
          </a:xfrm>
          <a:prstGeom prst="rect">
            <a:avLst/>
          </a:prstGeom>
          <a:solidFill>
            <a:schemeClr val="bg1">
              <a:lumMod val="95000"/>
            </a:schemeClr>
          </a:solidFill>
        </p:spPr>
        <p:txBody>
          <a:bodyPr wrap="square" rtlCol="0">
            <a:spAutoFit/>
          </a:bodyPr>
          <a:lstStyle/>
          <a:p>
            <a:pPr algn="ctr">
              <a:spcBef>
                <a:spcPct val="0"/>
              </a:spcBef>
            </a:pPr>
            <a:r>
              <a:rPr lang="en-IN" sz="2400" b="1" dirty="0">
                <a:solidFill>
                  <a:srgbClr val="000099"/>
                </a:solidFill>
                <a:latin typeface="Times New Roman" panose="02020603050405020304" pitchFamily="18" charset="0"/>
                <a:cs typeface="Times New Roman" panose="02020603050405020304" pitchFamily="18" charset="0"/>
              </a:rPr>
              <a:t>Results</a:t>
            </a:r>
          </a:p>
        </p:txBody>
      </p:sp>
      <p:pic>
        <p:nvPicPr>
          <p:cNvPr id="4" name="Picture 3">
            <a:extLst>
              <a:ext uri="{FF2B5EF4-FFF2-40B4-BE49-F238E27FC236}">
                <a16:creationId xmlns:a16="http://schemas.microsoft.com/office/drawing/2014/main" id="{C31A1824-DB95-A3DE-6D04-9A215FB08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442" y="971550"/>
            <a:ext cx="10279529" cy="4914900"/>
          </a:xfrm>
          <a:prstGeom prst="rect">
            <a:avLst/>
          </a:prstGeom>
        </p:spPr>
      </p:pic>
    </p:spTree>
    <p:extLst>
      <p:ext uri="{BB962C8B-B14F-4D97-AF65-F5344CB8AC3E}">
        <p14:creationId xmlns:p14="http://schemas.microsoft.com/office/powerpoint/2010/main" val="23696710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402906-1087-6B1F-17F4-83D299C4001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29866B-5E03-698B-1068-08E71DB3AE37}"/>
              </a:ext>
            </a:extLst>
          </p:cNvPr>
          <p:cNvSpPr txBox="1"/>
          <p:nvPr/>
        </p:nvSpPr>
        <p:spPr>
          <a:xfrm>
            <a:off x="0" y="0"/>
            <a:ext cx="12192000" cy="461665"/>
          </a:xfrm>
          <a:prstGeom prst="rect">
            <a:avLst/>
          </a:prstGeom>
          <a:solidFill>
            <a:schemeClr val="bg1">
              <a:lumMod val="95000"/>
            </a:schemeClr>
          </a:solidFill>
        </p:spPr>
        <p:txBody>
          <a:bodyPr wrap="square" rtlCol="0">
            <a:spAutoFit/>
          </a:bodyPr>
          <a:lstStyle/>
          <a:p>
            <a:pPr algn="ctr">
              <a:spcBef>
                <a:spcPct val="0"/>
              </a:spcBef>
            </a:pPr>
            <a:r>
              <a:rPr lang="en-IN" sz="2400" b="1" dirty="0">
                <a:solidFill>
                  <a:srgbClr val="000099"/>
                </a:solidFill>
                <a:latin typeface="Times New Roman" panose="02020603050405020304" pitchFamily="18" charset="0"/>
                <a:cs typeface="Times New Roman" panose="02020603050405020304" pitchFamily="18" charset="0"/>
              </a:rPr>
              <a:t>Conclusion</a:t>
            </a:r>
          </a:p>
        </p:txBody>
      </p:sp>
      <p:sp>
        <p:nvSpPr>
          <p:cNvPr id="4" name="TextBox 3">
            <a:extLst>
              <a:ext uri="{FF2B5EF4-FFF2-40B4-BE49-F238E27FC236}">
                <a16:creationId xmlns:a16="http://schemas.microsoft.com/office/drawing/2014/main" id="{9EE77336-4436-F723-0982-E2FDAFDA35A6}"/>
              </a:ext>
            </a:extLst>
          </p:cNvPr>
          <p:cNvSpPr txBox="1"/>
          <p:nvPr/>
        </p:nvSpPr>
        <p:spPr>
          <a:xfrm>
            <a:off x="318407" y="759279"/>
            <a:ext cx="11446329" cy="4247317"/>
          </a:xfrm>
          <a:prstGeom prst="rect">
            <a:avLst/>
          </a:prstGeom>
          <a:noFill/>
        </p:spPr>
        <p:txBody>
          <a:bodyPr wrap="square" rtlCol="0">
            <a:spAutoFit/>
          </a:bodyPr>
          <a:lstStyle/>
          <a:p>
            <a:pPr marL="285750" indent="-285750">
              <a:buFont typeface="Arial" panose="020B0604020202020204" pitchFamily="34" charset="0"/>
              <a:buChar char="•"/>
            </a:pPr>
            <a:r>
              <a:rPr lang="en-US" dirty="0"/>
              <a:t>The agent successfully </a:t>
            </a:r>
            <a:r>
              <a:rPr lang="en-US" b="1" dirty="0"/>
              <a:t>solved Tic-Tac-Toe</a:t>
            </a:r>
            <a:r>
              <a:rPr lang="en-US" dirty="0"/>
              <a:t>, achieving a perfect 100% win rate.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It achieved this mastery </a:t>
            </a:r>
            <a:r>
              <a:rPr lang="en-US" b="1" dirty="0"/>
              <a:t>autonomously through self-play</a:t>
            </a:r>
            <a:r>
              <a:rPr lang="en-US" dirty="0"/>
              <a:t>, without human data.</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The project validated the power of our Dueling DQN </a:t>
            </a:r>
            <a:r>
              <a:rPr lang="en-IN" dirty="0"/>
              <a:t>architecture, enhanced with </a:t>
            </a:r>
            <a:r>
              <a:rPr lang="en-IN" dirty="0" err="1"/>
              <a:t>NoisyLinear</a:t>
            </a:r>
            <a:r>
              <a:rPr lang="en-IN" dirty="0"/>
              <a:t> </a:t>
            </a:r>
            <a:r>
              <a:rPr lang="en-US" dirty="0"/>
              <a:t>layers and </a:t>
            </a:r>
            <a:r>
              <a:rPr lang="en-US" b="1" dirty="0"/>
              <a:t>Prioritized Experience Replay</a:t>
            </a:r>
            <a:r>
              <a:rPr lang="en-US" dirty="0"/>
              <a:t>.</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This advanced DQN Agent </a:t>
            </a:r>
            <a:r>
              <a:rPr lang="en-US" dirty="0"/>
              <a:t>proved far more efficient and effective than traditional methods.</a:t>
            </a:r>
          </a:p>
          <a:p>
            <a:pPr marL="285750" indent="-285750">
              <a:buFont typeface="Arial" panose="020B0604020202020204" pitchFamily="34" charset="0"/>
              <a:buChar char="•"/>
            </a:pPr>
            <a:endParaRPr lang="en-US" dirty="0"/>
          </a:p>
          <a:p>
            <a:pPr marL="285750" lvl="0" indent="-285750" fontAlgn="base">
              <a:buFont typeface="Arial" panose="020B0604020202020204" pitchFamily="34" charset="0"/>
              <a:buChar char="•"/>
            </a:pPr>
            <a:r>
              <a:rPr lang="en-IN" b="1" dirty="0"/>
              <a:t>The Secret Sauce:</a:t>
            </a:r>
            <a:r>
              <a:rPr lang="en-IN" dirty="0"/>
              <a:t> The synergy of advanced DRL techniques was key:</a:t>
            </a:r>
          </a:p>
          <a:p>
            <a:pPr marL="800100" lvl="1" indent="-342900" fontAlgn="base">
              <a:buFont typeface="+mj-lt"/>
              <a:buAutoNum type="arabicPeriod"/>
            </a:pPr>
            <a:r>
              <a:rPr lang="en-IN" b="1" dirty="0"/>
              <a:t>Dueling DQN</a:t>
            </a:r>
            <a:r>
              <a:rPr lang="en-IN" dirty="0"/>
              <a:t> for more accurate state-value estimation.</a:t>
            </a:r>
          </a:p>
          <a:p>
            <a:pPr marL="800100" lvl="1" indent="-342900" fontAlgn="base">
              <a:buFont typeface="+mj-lt"/>
              <a:buAutoNum type="arabicPeriod"/>
            </a:pPr>
            <a:r>
              <a:rPr lang="en-IN" b="1" dirty="0" err="1"/>
              <a:t>NoisyNets</a:t>
            </a:r>
            <a:r>
              <a:rPr lang="en-IN" dirty="0"/>
              <a:t> for efficient, state-dependent exploration.</a:t>
            </a:r>
          </a:p>
          <a:p>
            <a:pPr marL="800100" lvl="1" indent="-342900" fontAlgn="base">
              <a:buFont typeface="+mj-lt"/>
              <a:buAutoNum type="arabicPeriod"/>
            </a:pPr>
            <a:r>
              <a:rPr lang="en-IN" b="1" dirty="0"/>
              <a:t>PER</a:t>
            </a:r>
            <a:r>
              <a:rPr lang="en-IN" dirty="0"/>
              <a:t> for focusing on high-impact learning experiences.</a:t>
            </a:r>
          </a:p>
          <a:p>
            <a:pPr marL="800100" lvl="1" indent="-342900" fontAlgn="base">
              <a:buFont typeface="+mj-lt"/>
              <a:buAutoNum type="arabicPeriod"/>
            </a:pPr>
            <a:r>
              <a:rPr lang="en-IN" b="1" dirty="0"/>
              <a:t>Double DQN</a:t>
            </a:r>
            <a:r>
              <a:rPr lang="en-IN" dirty="0"/>
              <a:t> for mitigating overestimation bias and ensuring stable training.</a:t>
            </a:r>
          </a:p>
          <a:p>
            <a:pPr marL="285750" indent="-285750">
              <a:buFont typeface="Arial" panose="020B0604020202020204" pitchFamily="34" charset="0"/>
              <a:buChar char="•"/>
            </a:pPr>
            <a:endParaRPr lang="en-IN" dirty="0"/>
          </a:p>
        </p:txBody>
      </p:sp>
    </p:spTree>
    <p:extLst>
      <p:ext uri="{BB962C8B-B14F-4D97-AF65-F5344CB8AC3E}">
        <p14:creationId xmlns:p14="http://schemas.microsoft.com/office/powerpoint/2010/main" val="3974915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E0EC4-DE64-D4DC-3B8B-7ABD97016EF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17AF1E-5F7A-F834-93C4-E93EA77A08C4}"/>
              </a:ext>
            </a:extLst>
          </p:cNvPr>
          <p:cNvSpPr txBox="1"/>
          <p:nvPr/>
        </p:nvSpPr>
        <p:spPr>
          <a:xfrm>
            <a:off x="0" y="0"/>
            <a:ext cx="12192000" cy="461665"/>
          </a:xfrm>
          <a:prstGeom prst="rect">
            <a:avLst/>
          </a:prstGeom>
          <a:solidFill>
            <a:schemeClr val="bg1">
              <a:lumMod val="95000"/>
            </a:schemeClr>
          </a:solidFill>
        </p:spPr>
        <p:txBody>
          <a:bodyPr wrap="square" rtlCol="0">
            <a:spAutoFit/>
          </a:bodyPr>
          <a:lstStyle/>
          <a:p>
            <a:pPr algn="ctr">
              <a:spcBef>
                <a:spcPct val="0"/>
              </a:spcBef>
            </a:pPr>
            <a:r>
              <a:rPr lang="en-IN" sz="2400" b="1" dirty="0">
                <a:solidFill>
                  <a:srgbClr val="000099"/>
                </a:solidFill>
                <a:latin typeface="Times New Roman" panose="02020603050405020304" pitchFamily="18" charset="0"/>
                <a:cs typeface="Times New Roman" panose="02020603050405020304" pitchFamily="18" charset="0"/>
              </a:rPr>
              <a:t>Future Scope </a:t>
            </a:r>
          </a:p>
        </p:txBody>
      </p:sp>
      <p:sp>
        <p:nvSpPr>
          <p:cNvPr id="7" name="Rectangle 2">
            <a:extLst>
              <a:ext uri="{FF2B5EF4-FFF2-40B4-BE49-F238E27FC236}">
                <a16:creationId xmlns:a16="http://schemas.microsoft.com/office/drawing/2014/main" id="{265A6FF8-8D2A-23AA-CB9C-09872D4C4431}"/>
              </a:ext>
            </a:extLst>
          </p:cNvPr>
          <p:cNvSpPr>
            <a:spLocks noChangeArrowheads="1"/>
          </p:cNvSpPr>
          <p:nvPr/>
        </p:nvSpPr>
        <p:spPr bwMode="auto">
          <a:xfrm>
            <a:off x="438150" y="1137797"/>
            <a:ext cx="8043612" cy="12105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01568"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rgbClr val="1B1C1D"/>
                </a:solidFill>
                <a:effectLst/>
                <a:latin typeface="Google Sans Text"/>
              </a:rPr>
              <a:t>Apply this advanced agent to solve more complex games like Connect Four.</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rgbClr val="1B1C1D"/>
                </a:solidFill>
                <a:effectLst/>
                <a:latin typeface="Google Sans Text"/>
              </a:rPr>
              <a:t>Perform an ablation study to measure the exact impact of each algorithm we used.</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0" i="0" u="none" strike="noStrike" cap="none" normalizeH="0" baseline="0" dirty="0">
                <a:ln>
                  <a:noFill/>
                </a:ln>
                <a:solidFill>
                  <a:srgbClr val="1B1C1D"/>
                </a:solidFill>
                <a:effectLst/>
                <a:latin typeface="Google Sans Text"/>
              </a:rPr>
              <a:t>Adapt the agent to solve real-world optimization problems like route planning.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226900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0" y="0"/>
            <a:ext cx="12192000" cy="461665"/>
          </a:xfrm>
          <a:prstGeom prst="rect">
            <a:avLst/>
          </a:prstGeom>
          <a:solidFill>
            <a:schemeClr val="bg1">
              <a:lumMod val="95000"/>
            </a:schemeClr>
          </a:solidFill>
        </p:spPr>
        <p:txBody>
          <a:bodyPr wrap="square" rtlCol="0">
            <a:spAutoFit/>
          </a:bodyPr>
          <a:lstStyle/>
          <a:p>
            <a:pPr algn="ctr">
              <a:spcBef>
                <a:spcPct val="0"/>
              </a:spcBef>
            </a:pPr>
            <a:r>
              <a:rPr lang="en-US" sz="2400" b="1" dirty="0">
                <a:solidFill>
                  <a:srgbClr val="000099"/>
                </a:solidFill>
                <a:latin typeface="Times New Roman" panose="02020603050405020304" pitchFamily="18" charset="0"/>
                <a:cs typeface="Times New Roman" panose="02020603050405020304" pitchFamily="18" charset="0"/>
                <a:sym typeface="Arial" panose="020B0604020202020204"/>
              </a:rPr>
              <a:t>REFERENCES</a:t>
            </a:r>
            <a:r>
              <a:rPr lang="en-US" sz="2400" b="1" dirty="0">
                <a:solidFill>
                  <a:srgbClr val="000099"/>
                </a:solidFill>
                <a:latin typeface="Times New Roman" panose="02020603050405020304" pitchFamily="18" charset="0"/>
                <a:cs typeface="Times New Roman" panose="02020603050405020304" pitchFamily="18" charset="0"/>
              </a:rPr>
              <a:t> </a:t>
            </a:r>
            <a:endParaRPr lang="en-IN" sz="2400" b="1" dirty="0">
              <a:solidFill>
                <a:srgbClr val="000099"/>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349D23C3-FD40-F3DA-50DD-52379FD8E09E}"/>
              </a:ext>
            </a:extLst>
          </p:cNvPr>
          <p:cNvSpPr txBox="1"/>
          <p:nvPr/>
        </p:nvSpPr>
        <p:spPr>
          <a:xfrm>
            <a:off x="122464" y="685800"/>
            <a:ext cx="11813722" cy="3970318"/>
          </a:xfrm>
          <a:prstGeom prst="rect">
            <a:avLst/>
          </a:prstGeom>
          <a:noFill/>
        </p:spPr>
        <p:txBody>
          <a:bodyPr wrap="square" rtlCol="0">
            <a:spAutoFit/>
          </a:bodyPr>
          <a:lstStyle/>
          <a:p>
            <a:pPr marL="285750" indent="-285750">
              <a:buFont typeface="Arial" panose="020B0604020202020204" pitchFamily="34" charset="0"/>
              <a:buChar char="•"/>
            </a:pPr>
            <a:r>
              <a:rPr lang="en-US" dirty="0"/>
              <a:t>Sutton, R. S., &amp; Barto, A. G. (2018). </a:t>
            </a:r>
            <a:r>
              <a:rPr lang="en-US" i="1" dirty="0"/>
              <a:t>Reinforcement learning: An introduction</a:t>
            </a:r>
            <a:r>
              <a:rPr lang="en-US" dirty="0"/>
              <a:t>. The MIT Press.</a:t>
            </a:r>
          </a:p>
          <a:p>
            <a:endParaRPr lang="en-US" dirty="0"/>
          </a:p>
          <a:p>
            <a:pPr marL="285750" indent="-285750">
              <a:buFont typeface="Arial" panose="020B0604020202020204" pitchFamily="34" charset="0"/>
              <a:buChar char="•"/>
            </a:pPr>
            <a:r>
              <a:rPr lang="en-IN" dirty="0" err="1"/>
              <a:t>Mnih</a:t>
            </a:r>
            <a:r>
              <a:rPr lang="en-IN" dirty="0"/>
              <a:t>, V., </a:t>
            </a:r>
            <a:r>
              <a:rPr lang="en-IN" dirty="0" err="1"/>
              <a:t>Kavukcuoglu</a:t>
            </a:r>
            <a:r>
              <a:rPr lang="en-IN" dirty="0"/>
              <a:t>, K., Silver, D., Rusu, A. A., Veness, J., Bellemare, M. G., ... &amp; Hassabis, D. (2015). Human-level control through deep reinforcement learning. </a:t>
            </a:r>
            <a:r>
              <a:rPr lang="en-IN" i="1" dirty="0"/>
              <a:t>Nature</a:t>
            </a:r>
            <a:r>
              <a:rPr lang="en-IN" dirty="0"/>
              <a:t>, 518(7540), 529-533.</a:t>
            </a:r>
          </a:p>
          <a:p>
            <a:endParaRPr lang="en-IN" dirty="0"/>
          </a:p>
          <a:p>
            <a:pPr marL="285750" indent="-285750">
              <a:buFont typeface="Arial" panose="020B0604020202020204" pitchFamily="34" charset="0"/>
              <a:buChar char="•"/>
            </a:pPr>
            <a:r>
              <a:rPr lang="en-US" dirty="0"/>
              <a:t>Van Hasselt, H., Guez, A., &amp; Silver, D. (2016, March). Deep reinforcement learning with double q-learning. In </a:t>
            </a:r>
            <a:r>
              <a:rPr lang="en-US" i="1" dirty="0"/>
              <a:t>Proceedings of the AAAI conference on artificial intelligence</a:t>
            </a:r>
            <a:r>
              <a:rPr lang="en-US" dirty="0"/>
              <a:t> (Vol. 30, No. 1).</a:t>
            </a:r>
          </a:p>
          <a:p>
            <a:endParaRPr lang="en-US" dirty="0"/>
          </a:p>
          <a:p>
            <a:pPr marL="285750" indent="-285750">
              <a:buFont typeface="Arial" panose="020B0604020202020204" pitchFamily="34" charset="0"/>
              <a:buChar char="•"/>
            </a:pPr>
            <a:r>
              <a:rPr lang="en-IN" dirty="0"/>
              <a:t>Wang, Z., Schaul, T., Hessel, M., Van Hasselt, H., Lanctot, M., &amp; De Freitas, N. (2016, June). Dueling network architectures for deep reinforcement learning. In </a:t>
            </a:r>
            <a:r>
              <a:rPr lang="en-IN" i="1" dirty="0"/>
              <a:t>International conference on machine learning</a:t>
            </a:r>
            <a:r>
              <a:rPr lang="en-IN" dirty="0"/>
              <a:t> (pp. 1995-2003). PMLR.</a:t>
            </a:r>
          </a:p>
          <a:p>
            <a:endParaRPr lang="en-IN" dirty="0"/>
          </a:p>
          <a:p>
            <a:pPr marL="285750" indent="-285750">
              <a:buFont typeface="Arial" panose="020B0604020202020204" pitchFamily="34" charset="0"/>
              <a:buChar char="•"/>
            </a:pPr>
            <a:r>
              <a:rPr lang="en-IN" dirty="0"/>
              <a:t>Hessel, M., </a:t>
            </a:r>
            <a:r>
              <a:rPr lang="en-IN" dirty="0" err="1"/>
              <a:t>Modayil</a:t>
            </a:r>
            <a:r>
              <a:rPr lang="en-IN" dirty="0"/>
              <a:t>, J., Van Hasselt, H., Schaul, T., </a:t>
            </a:r>
            <a:r>
              <a:rPr lang="en-IN" dirty="0" err="1"/>
              <a:t>Ostrovski</a:t>
            </a:r>
            <a:r>
              <a:rPr lang="en-IN" dirty="0"/>
              <a:t>, G., Dabney, W., ... &amp; Silver, D. (2018). Rainbow: Combining improvements in deep reinforcement learning. In </a:t>
            </a:r>
            <a:r>
              <a:rPr lang="en-IN" i="1" dirty="0"/>
              <a:t>Proceedings of the AAAI conference on artificial intelligence</a:t>
            </a:r>
            <a:r>
              <a:rPr lang="en-IN" dirty="0"/>
              <a:t> (Vol. 32, No. 1).</a:t>
            </a:r>
          </a:p>
        </p:txBody>
      </p:sp>
    </p:spTree>
    <p:extLst>
      <p:ext uri="{BB962C8B-B14F-4D97-AF65-F5344CB8AC3E}">
        <p14:creationId xmlns:p14="http://schemas.microsoft.com/office/powerpoint/2010/main" val="206064764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1360</Words>
  <Application>Microsoft Office PowerPoint</Application>
  <PresentationFormat>Widescreen</PresentationFormat>
  <Paragraphs>130</Paragraphs>
  <Slides>12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12</vt:i4>
      </vt:variant>
    </vt:vector>
  </HeadingPairs>
  <TitlesOfParts>
    <vt:vector size="21" baseType="lpstr">
      <vt:lpstr>Arial</vt:lpstr>
      <vt:lpstr>Calibri</vt:lpstr>
      <vt:lpstr>Calibri Light</vt:lpstr>
      <vt:lpstr>Google Sans Text</vt:lpstr>
      <vt:lpstr>Leelawadee</vt:lpstr>
      <vt:lpstr>Nyala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sripr</dc:creator>
  <cp:lastModifiedBy>sainath reddy.b</cp:lastModifiedBy>
  <cp:revision>59</cp:revision>
  <dcterms:created xsi:type="dcterms:W3CDTF">2024-08-02T14:10:09Z</dcterms:created>
  <dcterms:modified xsi:type="dcterms:W3CDTF">2025-08-21T18:11:13Z</dcterms:modified>
</cp:coreProperties>
</file>